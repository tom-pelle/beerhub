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63" r:id="rId7"/>
    <p:sldId id="264" r:id="rId8"/>
    <p:sldId id="258" r:id="rId9"/>
    <p:sldId id="259" r:id="rId10"/>
    <p:sldId id="260" r:id="rId11"/>
    <p:sldId id="262" r:id="rId12"/>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7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1638AE-73E9-B807-B7B7-90278A9F62CE}" v="2" dt="2025-12-15T08:47:54.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F95162-6873-F647-B392-BF6A1F606277}" type="datetimeFigureOut">
              <a:rPr lang="it-IT" smtClean="0"/>
              <a:t>15/12/2025</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FDF8BA-B6A2-CC4D-B552-37BF044E1040}" type="slidenum">
              <a:rPr lang="it-IT" smtClean="0"/>
              <a:t>‹N›</a:t>
            </a:fld>
            <a:endParaRPr lang="it-IT"/>
          </a:p>
        </p:txBody>
      </p:sp>
    </p:spTree>
    <p:extLst>
      <p:ext uri="{BB962C8B-B14F-4D97-AF65-F5344CB8AC3E}">
        <p14:creationId xmlns:p14="http://schemas.microsoft.com/office/powerpoint/2010/main" val="114686005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err="1"/>
              <a:t>BeerHub</a:t>
            </a:r>
            <a:r>
              <a:rPr lang="en-US"/>
              <a:t> is an application designed to allow users to easily explore a large collection of beers obtained from multiple real-world sources. The application enables beer search through several criteria, provides detailed beer information, and allows users to read reviews written by other users.</a:t>
            </a:r>
            <a:endParaRPr lang="it-IT"/>
          </a:p>
          <a:p>
            <a:r>
              <a:rPr lang="en-US"/>
              <a:t>Registered users can contribute by sharing their own evaluations and by following the breweries they are interested in. There is also a social part of the application: the system identifies users with similar taste profiles, helping them discover people with comparable preferences.</a:t>
            </a:r>
            <a:endParaRPr lang="it-IT"/>
          </a:p>
          <a:p>
            <a:r>
              <a:rPr lang="en-US">
                <a:ea typeface="Calibri"/>
                <a:cs typeface="Calibri"/>
              </a:rPr>
              <a:t>In this slide we can see the main features of the application.</a:t>
            </a:r>
          </a:p>
        </p:txBody>
      </p:sp>
      <p:sp>
        <p:nvSpPr>
          <p:cNvPr id="4" name="Segnaposto numero diapositiva 3"/>
          <p:cNvSpPr>
            <a:spLocks noGrp="1"/>
          </p:cNvSpPr>
          <p:nvPr>
            <p:ph type="sldNum" sz="quarter" idx="5"/>
          </p:nvPr>
        </p:nvSpPr>
        <p:spPr/>
        <p:txBody>
          <a:bodyPr/>
          <a:lstStyle/>
          <a:p>
            <a:fld id="{60FDF8BA-B6A2-CC4D-B552-37BF044E1040}" type="slidenum">
              <a:rPr lang="it-IT" smtClean="0"/>
              <a:t>2</a:t>
            </a:fld>
            <a:endParaRPr lang="it-IT"/>
          </a:p>
        </p:txBody>
      </p:sp>
    </p:spTree>
    <p:extLst>
      <p:ext uri="{BB962C8B-B14F-4D97-AF65-F5344CB8AC3E}">
        <p14:creationId xmlns:p14="http://schemas.microsoft.com/office/powerpoint/2010/main" val="1573330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t>The system involves three main actors.</a:t>
            </a:r>
            <a:endParaRPr lang="it-IT"/>
          </a:p>
          <a:p>
            <a:r>
              <a:rPr lang="en-US"/>
              <a:t>The unregistered user can sign up and browse beers and breweries, viewing their details but without being able to write reviews or access </a:t>
            </a:r>
            <a:r>
              <a:rPr lang="en-US" err="1"/>
              <a:t>personalised</a:t>
            </a:r>
            <a:r>
              <a:rPr lang="en-US"/>
              <a:t> suggestions.</a:t>
            </a:r>
            <a:endParaRPr lang="it-IT"/>
          </a:p>
          <a:p>
            <a:r>
              <a:rPr lang="en-US"/>
              <a:t>The registered user can use all the features of the application, including writing reviews and receiving recommendations.</a:t>
            </a:r>
            <a:endParaRPr lang="it-IT"/>
          </a:p>
          <a:p>
            <a:r>
              <a:rPr lang="en-US"/>
              <a:t>The administrator manages users and datasets and can moderate or remove inappropriate reviews.</a:t>
            </a:r>
            <a:endParaRPr lang="it-IT"/>
          </a:p>
          <a:p>
            <a:br>
              <a:rPr lang="en-US">
                <a:ea typeface="Calibri"/>
                <a:cs typeface="Calibri"/>
              </a:rPr>
            </a:br>
            <a:r>
              <a:rPr lang="en-US">
                <a:ea typeface="Calibri"/>
                <a:cs typeface="Calibri"/>
              </a:rPr>
              <a:t>We can also se the mockup for the main page of the app, in which a user can access to the browsing function with filters for beers and breweries and the results are shown as a list below. A registered user can also access higher level functionalities such as suggestion, simple statistics and review writing, and to social functionality too.</a:t>
            </a:r>
          </a:p>
        </p:txBody>
      </p:sp>
      <p:sp>
        <p:nvSpPr>
          <p:cNvPr id="4" name="Segnaposto numero diapositiva 3"/>
          <p:cNvSpPr>
            <a:spLocks noGrp="1"/>
          </p:cNvSpPr>
          <p:nvPr>
            <p:ph type="sldNum" sz="quarter" idx="5"/>
          </p:nvPr>
        </p:nvSpPr>
        <p:spPr/>
        <p:txBody>
          <a:bodyPr/>
          <a:lstStyle/>
          <a:p>
            <a:fld id="{60FDF8BA-B6A2-CC4D-B552-37BF044E1040}" type="slidenum">
              <a:rPr lang="it-IT" smtClean="0"/>
              <a:t>3</a:t>
            </a:fld>
            <a:endParaRPr lang="it-IT"/>
          </a:p>
        </p:txBody>
      </p:sp>
    </p:spTree>
    <p:extLst>
      <p:ext uri="{BB962C8B-B14F-4D97-AF65-F5344CB8AC3E}">
        <p14:creationId xmlns:p14="http://schemas.microsoft.com/office/powerpoint/2010/main" val="520235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In the second </a:t>
            </a:r>
            <a:r>
              <a:rPr lang="it-IT" err="1"/>
              <a:t>mockup</a:t>
            </a:r>
            <a:r>
              <a:rPr lang="it-IT"/>
              <a:t> </a:t>
            </a:r>
            <a:r>
              <a:rPr lang="it-IT" err="1"/>
              <a:t>we</a:t>
            </a:r>
            <a:r>
              <a:rPr lang="it-IT"/>
              <a:t> </a:t>
            </a:r>
            <a:r>
              <a:rPr lang="it-IT" err="1"/>
              <a:t>see</a:t>
            </a:r>
            <a:r>
              <a:rPr lang="it-IT"/>
              <a:t> the tab for </a:t>
            </a:r>
            <a:r>
              <a:rPr lang="it-IT" err="1"/>
              <a:t>beer</a:t>
            </a:r>
            <a:r>
              <a:rPr lang="it-IT"/>
              <a:t> and </a:t>
            </a:r>
            <a:r>
              <a:rPr lang="it-IT" err="1"/>
              <a:t>breweries</a:t>
            </a:r>
            <a:r>
              <a:rPr lang="it-IT"/>
              <a:t> </a:t>
            </a:r>
            <a:r>
              <a:rPr lang="it-IT" err="1"/>
              <a:t>where</a:t>
            </a:r>
            <a:r>
              <a:rPr lang="it-IT"/>
              <a:t> info </a:t>
            </a:r>
            <a:r>
              <a:rPr lang="it-IT" err="1"/>
              <a:t>is</a:t>
            </a:r>
            <a:r>
              <a:rPr lang="it-IT"/>
              <a:t>  </a:t>
            </a:r>
            <a:r>
              <a:rPr lang="it-IT" err="1"/>
              <a:t>shown</a:t>
            </a:r>
            <a:r>
              <a:rPr lang="it-IT"/>
              <a:t>. On the </a:t>
            </a:r>
            <a:r>
              <a:rPr lang="it-IT" err="1"/>
              <a:t>beer</a:t>
            </a:r>
            <a:r>
              <a:rPr lang="it-IT"/>
              <a:t> tab </a:t>
            </a:r>
            <a:r>
              <a:rPr lang="it-IT" err="1"/>
              <a:t>we</a:t>
            </a:r>
            <a:r>
              <a:rPr lang="it-IT"/>
              <a:t> can look </a:t>
            </a:r>
            <a:r>
              <a:rPr lang="it-IT" err="1"/>
              <a:t>at</a:t>
            </a:r>
            <a:r>
              <a:rPr lang="it-IT"/>
              <a:t> the </a:t>
            </a:r>
            <a:r>
              <a:rPr lang="it-IT" err="1"/>
              <a:t>avg</a:t>
            </a:r>
            <a:r>
              <a:rPr lang="it-IT"/>
              <a:t> score </a:t>
            </a:r>
            <a:r>
              <a:rPr lang="it-IT" err="1"/>
              <a:t>computed</a:t>
            </a:r>
            <a:r>
              <a:rPr lang="it-IT"/>
              <a:t> from ratings, </a:t>
            </a:r>
            <a:r>
              <a:rPr lang="it-IT" err="1"/>
              <a:t>read</a:t>
            </a:r>
            <a:r>
              <a:rPr lang="it-IT"/>
              <a:t> </a:t>
            </a:r>
            <a:r>
              <a:rPr lang="it-IT" err="1"/>
              <a:t>latest</a:t>
            </a:r>
            <a:r>
              <a:rPr lang="it-IT"/>
              <a:t> reviews and a </a:t>
            </a:r>
            <a:r>
              <a:rPr lang="it-IT" err="1"/>
              <a:t>registered</a:t>
            </a:r>
            <a:r>
              <a:rPr lang="it-IT"/>
              <a:t> user </a:t>
            </a:r>
            <a:r>
              <a:rPr lang="it-IT" err="1"/>
              <a:t>may</a:t>
            </a:r>
            <a:r>
              <a:rPr lang="it-IT"/>
              <a:t> </a:t>
            </a:r>
            <a:r>
              <a:rPr lang="it-IT" err="1"/>
              <a:t>write</a:t>
            </a:r>
            <a:r>
              <a:rPr lang="it-IT"/>
              <a:t> </a:t>
            </a:r>
            <a:r>
              <a:rPr lang="it-IT" err="1"/>
              <a:t>its</a:t>
            </a:r>
            <a:r>
              <a:rPr lang="it-IT"/>
              <a:t> </a:t>
            </a:r>
            <a:r>
              <a:rPr lang="it-IT" err="1"/>
              <a:t>own</a:t>
            </a:r>
            <a:r>
              <a:rPr lang="it-IT"/>
              <a:t> review. On the </a:t>
            </a:r>
            <a:r>
              <a:rPr lang="it-IT" err="1"/>
              <a:t>brewery</a:t>
            </a:r>
            <a:r>
              <a:rPr lang="it-IT"/>
              <a:t> tab one can </a:t>
            </a:r>
            <a:r>
              <a:rPr lang="it-IT" err="1"/>
              <a:t>read</a:t>
            </a:r>
            <a:r>
              <a:rPr lang="it-IT"/>
              <a:t> the </a:t>
            </a:r>
            <a:r>
              <a:rPr lang="it-IT" err="1"/>
              <a:t>main</a:t>
            </a:r>
            <a:r>
              <a:rPr lang="it-IT"/>
              <a:t> info </a:t>
            </a:r>
            <a:r>
              <a:rPr lang="it-IT" err="1"/>
              <a:t>about</a:t>
            </a:r>
            <a:r>
              <a:rPr lang="it-IT"/>
              <a:t> </a:t>
            </a:r>
            <a:r>
              <a:rPr lang="it-IT" err="1"/>
              <a:t>it</a:t>
            </a:r>
            <a:r>
              <a:rPr lang="it-IT"/>
              <a:t>, look </a:t>
            </a:r>
            <a:r>
              <a:rPr lang="it-IT" err="1"/>
              <a:t>at</a:t>
            </a:r>
            <a:r>
              <a:rPr lang="it-IT"/>
              <a:t> a list of </a:t>
            </a:r>
            <a:r>
              <a:rPr lang="it-IT" err="1"/>
              <a:t>beers</a:t>
            </a:r>
            <a:r>
              <a:rPr lang="it-IT"/>
              <a:t> </a:t>
            </a:r>
            <a:r>
              <a:rPr lang="it-IT" err="1"/>
              <a:t>produced</a:t>
            </a:r>
            <a:r>
              <a:rPr lang="it-IT"/>
              <a:t> by </a:t>
            </a:r>
            <a:r>
              <a:rPr lang="it-IT" err="1"/>
              <a:t>it</a:t>
            </a:r>
            <a:r>
              <a:rPr lang="it-IT"/>
              <a:t> and a </a:t>
            </a:r>
            <a:r>
              <a:rPr lang="it-IT" err="1"/>
              <a:t>registered</a:t>
            </a:r>
            <a:r>
              <a:rPr lang="it-IT"/>
              <a:t> user </a:t>
            </a:r>
            <a:r>
              <a:rPr lang="it-IT" err="1"/>
              <a:t>will</a:t>
            </a:r>
            <a:r>
              <a:rPr lang="it-IT"/>
              <a:t> be </a:t>
            </a:r>
            <a:r>
              <a:rPr lang="it-IT" err="1"/>
              <a:t>able</a:t>
            </a:r>
            <a:r>
              <a:rPr lang="it-IT"/>
              <a:t> to follow / </a:t>
            </a:r>
            <a:r>
              <a:rPr lang="it-IT" err="1"/>
              <a:t>unfollow</a:t>
            </a:r>
            <a:r>
              <a:rPr lang="it-IT"/>
              <a:t> </a:t>
            </a:r>
            <a:r>
              <a:rPr lang="it-IT" err="1"/>
              <a:t>it</a:t>
            </a:r>
            <a:r>
              <a:rPr lang="it-IT"/>
              <a:t>.</a:t>
            </a:r>
          </a:p>
        </p:txBody>
      </p:sp>
      <p:sp>
        <p:nvSpPr>
          <p:cNvPr id="4" name="Segnaposto numero diapositiva 3"/>
          <p:cNvSpPr>
            <a:spLocks noGrp="1"/>
          </p:cNvSpPr>
          <p:nvPr>
            <p:ph type="sldNum" sz="quarter" idx="5"/>
          </p:nvPr>
        </p:nvSpPr>
        <p:spPr/>
        <p:txBody>
          <a:bodyPr/>
          <a:lstStyle/>
          <a:p>
            <a:fld id="{60FDF8BA-B6A2-CC4D-B552-37BF044E1040}" type="slidenum">
              <a:rPr lang="it-IT" smtClean="0"/>
              <a:t>4</a:t>
            </a:fld>
            <a:endParaRPr lang="it-IT"/>
          </a:p>
        </p:txBody>
      </p:sp>
    </p:spTree>
    <p:extLst>
      <p:ext uri="{BB962C8B-B14F-4D97-AF65-F5344CB8AC3E}">
        <p14:creationId xmlns:p14="http://schemas.microsoft.com/office/powerpoint/2010/main" val="751845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t>This project integrates data from three different sources: Kaggle for beers and breweries, OpenDataBay for beer profiles and ratings, and RandomUser for the generation of synthetic user profiles.</a:t>
            </a:r>
            <a:endParaRPr lang="it-IT"/>
          </a:p>
          <a:p>
            <a:r>
              <a:rPr lang="en-US"/>
              <a:t>The combined dataset contains information about beers and their characteristics, breweries, user reviews, and synthetic user profiles aligned with the reviews, for a total volume of about 56MB.</a:t>
            </a:r>
            <a:endParaRPr lang="it-IT"/>
          </a:p>
          <a:p>
            <a:r>
              <a:rPr lang="en-US"/>
              <a:t>We ensured data variety using multiple independent sources, but also from the integration of the two beer datasets from Kaggle and OpenDataBay. Overall, the dataset contains several types of information — beer characteristics, brewery information, review text and user demographics — which contribute to its heterogeneity.</a:t>
            </a:r>
            <a:endParaRPr lang="it-IT"/>
          </a:p>
          <a:p>
            <a:endParaRPr lang="en-US">
              <a:ea typeface="Calibri"/>
              <a:cs typeface="Calibri"/>
            </a:endParaRPr>
          </a:p>
        </p:txBody>
      </p:sp>
      <p:sp>
        <p:nvSpPr>
          <p:cNvPr id="4" name="Segnaposto numero diapositiva 3"/>
          <p:cNvSpPr>
            <a:spLocks noGrp="1"/>
          </p:cNvSpPr>
          <p:nvPr>
            <p:ph type="sldNum" sz="quarter" idx="5"/>
          </p:nvPr>
        </p:nvSpPr>
        <p:spPr/>
        <p:txBody>
          <a:bodyPr/>
          <a:lstStyle/>
          <a:p>
            <a:fld id="{60FDF8BA-B6A2-CC4D-B552-37BF044E1040}" type="slidenum">
              <a:rPr lang="it-IT" smtClean="0"/>
              <a:t>5</a:t>
            </a:fld>
            <a:endParaRPr lang="it-IT"/>
          </a:p>
        </p:txBody>
      </p:sp>
    </p:spTree>
    <p:extLst>
      <p:ext uri="{BB962C8B-B14F-4D97-AF65-F5344CB8AC3E}">
        <p14:creationId xmlns:p14="http://schemas.microsoft.com/office/powerpoint/2010/main" val="3108101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t>This is the preliminary UML class diagram of our application. Here we give an overview of the main domain entities and how they are conceptually related.</a:t>
            </a:r>
            <a:br>
              <a:rPr lang="en-US">
                <a:cs typeface="+mn-lt"/>
              </a:rPr>
            </a:br>
            <a:r>
              <a:rPr lang="en-US"/>
              <a:t>Here we are three user roles — Unregistered User, Registered User and Admin — each with the actions they can perform in the system.</a:t>
            </a:r>
            <a:br>
              <a:rPr lang="en-US">
                <a:cs typeface="+mn-lt"/>
              </a:rPr>
            </a:br>
            <a:r>
              <a:rPr lang="en-US"/>
              <a:t>At the center of the domain we have the User class, which contains the core user information. Registered users can write reviews and follow breweries, while admins can manage the dataset and user accounts. Unregistered users can only login and signup. </a:t>
            </a:r>
            <a:br>
              <a:rPr lang="en-US">
                <a:cs typeface="+mn-lt"/>
              </a:rPr>
            </a:br>
            <a:r>
              <a:rPr lang="en-US"/>
              <a:t>The main entities of the domain are User, Review, Beer, and Brewery, connected through simple associations: users write reviews, reviews refer to specific beers, and each beer is produced by a single brewery. Every user has the </a:t>
            </a:r>
            <a:r>
              <a:rPr lang="en-US" err="1"/>
              <a:t>possibilty</a:t>
            </a:r>
            <a:r>
              <a:rPr lang="en-US"/>
              <a:t> to follow one or more breweries. This diagram summarizes the logical structure of the system and the interactions that will guide our database design in the next phase.</a:t>
            </a:r>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6</a:t>
            </a:fld>
            <a:endParaRPr lang="it-IT"/>
          </a:p>
        </p:txBody>
      </p:sp>
    </p:spTree>
    <p:extLst>
      <p:ext uri="{BB962C8B-B14F-4D97-AF65-F5344CB8AC3E}">
        <p14:creationId xmlns:p14="http://schemas.microsoft.com/office/powerpoint/2010/main" val="162883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t>Here we summarize the functional requirements that are managed by the Document Database.</a:t>
            </a:r>
            <a:endParaRPr lang="it-IT"/>
          </a:p>
          <a:p>
            <a:r>
              <a:rPr lang="en-US"/>
              <a:t>The first requirement is the ability to view detailed information about a selected beer.</a:t>
            </a:r>
            <a:endParaRPr lang="en-US">
              <a:ea typeface="Calibri"/>
              <a:cs typeface="Calibri"/>
            </a:endParaRPr>
          </a:p>
          <a:p>
            <a:r>
              <a:rPr lang="en-US"/>
              <a:t>We also allow users to browse and filter beers by different attributes or to show all reviews for a selected beer, including both the score and the text.</a:t>
            </a:r>
            <a:endParaRPr lang="en-US">
              <a:ea typeface="Calibri"/>
              <a:cs typeface="Calibri"/>
            </a:endParaRPr>
          </a:p>
          <a:p>
            <a:r>
              <a:rPr lang="en-US"/>
              <a:t>We also support beers suggestions based on user attributes such as favorite styles or regions according to the reviews made by the user himself.</a:t>
            </a:r>
            <a:endParaRPr lang="en-US">
              <a:ea typeface="Calibri"/>
              <a:cs typeface="Calibri"/>
            </a:endParaRPr>
          </a:p>
          <a:p>
            <a:r>
              <a:rPr lang="en-US"/>
              <a:t>A key analytical feature is computing the average rating and the total number of reviews for a beer. (SE CHIEDE: </a:t>
            </a:r>
            <a:r>
              <a:rPr lang="en-US" i="1"/>
              <a:t>When a user opens the Beer Details page, the application performs an aggregation on the</a:t>
            </a:r>
            <a:r>
              <a:rPr lang="en-US"/>
              <a:t> </a:t>
            </a:r>
            <a:r>
              <a:rPr lang="en-US" b="1"/>
              <a:t>reviews</a:t>
            </a:r>
            <a:r>
              <a:rPr lang="en-US"/>
              <a:t> </a:t>
            </a:r>
            <a:r>
              <a:rPr lang="en-US" i="1"/>
              <a:t>collection to compute the</a:t>
            </a:r>
            <a:r>
              <a:rPr lang="en-US"/>
              <a:t> </a:t>
            </a:r>
            <a:r>
              <a:rPr lang="en-US" b="1"/>
              <a:t>average score</a:t>
            </a:r>
            <a:r>
              <a:rPr lang="en-US"/>
              <a:t> </a:t>
            </a:r>
            <a:r>
              <a:rPr lang="en-US" i="1"/>
              <a:t>and the</a:t>
            </a:r>
            <a:r>
              <a:rPr lang="en-US"/>
              <a:t> </a:t>
            </a:r>
            <a:r>
              <a:rPr lang="en-US" b="1"/>
              <a:t>total number of reviews</a:t>
            </a:r>
            <a:r>
              <a:rPr lang="en-US"/>
              <a:t> </a:t>
            </a:r>
            <a:r>
              <a:rPr lang="en-US" i="1"/>
              <a:t>for that beer. The results are then displayed in the page (e.g., “Average rating: 4.21 — 153 reviews”)</a:t>
            </a:r>
            <a:r>
              <a:rPr lang="en-US"/>
              <a:t>)</a:t>
            </a:r>
            <a:endParaRPr lang="en-US">
              <a:ea typeface="Calibri"/>
              <a:cs typeface="Calibri"/>
            </a:endParaRPr>
          </a:p>
          <a:p>
            <a:r>
              <a:rPr lang="en-US"/>
              <a:t>And finally, we use Document DB to find the most common beer style for a user-selected country. ( SE </a:t>
            </a:r>
            <a:r>
              <a:rPr lang="en-US" err="1"/>
              <a:t>CHIEDE:</a:t>
            </a:r>
            <a:r>
              <a:rPr lang="en-US" i="1" err="1"/>
              <a:t>The</a:t>
            </a:r>
            <a:r>
              <a:rPr lang="en-US" i="1"/>
              <a:t> user selects a country in the browse/filters section. The application runs an aggregation on the</a:t>
            </a:r>
            <a:r>
              <a:rPr lang="en-US"/>
              <a:t> </a:t>
            </a:r>
            <a:r>
              <a:rPr lang="en-US" b="1"/>
              <a:t>beers</a:t>
            </a:r>
            <a:r>
              <a:rPr lang="en-US"/>
              <a:t> </a:t>
            </a:r>
            <a:r>
              <a:rPr lang="en-US" i="1"/>
              <a:t>collection to determine the beer style with the highest number of beers in that country.</a:t>
            </a:r>
            <a:r>
              <a:rPr lang="en-US"/>
              <a:t>)</a:t>
            </a:r>
            <a:endParaRPr lang="en-US" i="1">
              <a:ea typeface="Calibri"/>
              <a:cs typeface="Calibri"/>
            </a:endParaRPr>
          </a:p>
          <a:p>
            <a:r>
              <a:rPr lang="en-US"/>
              <a:t>The main entities involved are: beers, breweries, reviews and users.</a:t>
            </a:r>
            <a:endParaRPr lang="en-US">
              <a:ea typeface="Calibri"/>
              <a:cs typeface="Calibri"/>
            </a:endParaRPr>
          </a:p>
          <a:p>
            <a:endParaRPr lang="en-US" i="1">
              <a:ea typeface="Calibri"/>
              <a:cs typeface="Calibri"/>
            </a:endParaRPr>
          </a:p>
        </p:txBody>
      </p:sp>
      <p:sp>
        <p:nvSpPr>
          <p:cNvPr id="4" name="Segnaposto numero diapositiva 3"/>
          <p:cNvSpPr>
            <a:spLocks noGrp="1"/>
          </p:cNvSpPr>
          <p:nvPr>
            <p:ph type="sldNum" sz="quarter" idx="5"/>
          </p:nvPr>
        </p:nvSpPr>
        <p:spPr/>
        <p:txBody>
          <a:bodyPr/>
          <a:lstStyle/>
          <a:p>
            <a:fld id="{60FDF8BA-B6A2-CC4D-B552-37BF044E1040}" type="slidenum">
              <a:rPr lang="it-IT" smtClean="0"/>
              <a:t>7</a:t>
            </a:fld>
            <a:endParaRPr lang="it-IT"/>
          </a:p>
        </p:txBody>
      </p:sp>
    </p:spTree>
    <p:extLst>
      <p:ext uri="{BB962C8B-B14F-4D97-AF65-F5344CB8AC3E}">
        <p14:creationId xmlns:p14="http://schemas.microsoft.com/office/powerpoint/2010/main" val="3753215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ea typeface="Calibri"/>
                <a:cs typeface="Calibri"/>
              </a:rPr>
              <a:t>Prima query: </a:t>
            </a:r>
            <a:r>
              <a:rPr lang="en-US"/>
              <a:t>Identify users with </a:t>
            </a:r>
            <a:r>
              <a:rPr lang="en-US" err="1"/>
              <a:t>similarbeer</a:t>
            </a:r>
            <a:r>
              <a:rPr lang="en-US"/>
              <a:t> preferences by analyzing their ratings and reviews on </a:t>
            </a:r>
            <a:r>
              <a:rPr lang="en-US" err="1"/>
              <a:t>theuser</a:t>
            </a:r>
            <a:r>
              <a:rPr lang="en-US"/>
              <a:t>–beer graph. </a:t>
            </a:r>
            <a:r>
              <a:rPr lang="en-US" err="1"/>
              <a:t>Seconda</a:t>
            </a:r>
            <a:r>
              <a:rPr lang="en-US"/>
              <a:t> query: </a:t>
            </a:r>
            <a:r>
              <a:rPr lang="en-US" err="1"/>
              <a:t>Suggeriamo</a:t>
            </a:r>
            <a:r>
              <a:rPr lang="en-US"/>
              <a:t> </a:t>
            </a:r>
            <a:r>
              <a:rPr lang="en-US" err="1"/>
              <a:t>birrifici</a:t>
            </a:r>
            <a:r>
              <a:rPr lang="en-US"/>
              <a:t> </a:t>
            </a:r>
            <a:r>
              <a:rPr lang="en-US" err="1"/>
              <a:t>che</a:t>
            </a:r>
            <a:r>
              <a:rPr lang="en-US"/>
              <a:t> </a:t>
            </a:r>
            <a:r>
              <a:rPr lang="en-US" err="1"/>
              <a:t>utenti</a:t>
            </a:r>
            <a:r>
              <a:rPr lang="en-US"/>
              <a:t> con </a:t>
            </a:r>
            <a:r>
              <a:rPr lang="en-US" err="1"/>
              <a:t>gusti</a:t>
            </a:r>
            <a:r>
              <a:rPr lang="en-US"/>
              <a:t> </a:t>
            </a:r>
            <a:r>
              <a:rPr lang="en-US" err="1"/>
              <a:t>simili</a:t>
            </a:r>
            <a:r>
              <a:rPr lang="en-US"/>
              <a:t> </a:t>
            </a:r>
            <a:r>
              <a:rPr lang="en-US" err="1"/>
              <a:t>già</a:t>
            </a:r>
            <a:r>
              <a:rPr lang="en-US"/>
              <a:t> </a:t>
            </a:r>
            <a:r>
              <a:rPr lang="en-US" err="1"/>
              <a:t>seguono,usando</a:t>
            </a:r>
            <a:r>
              <a:rPr lang="en-US"/>
              <a:t> le </a:t>
            </a:r>
            <a:r>
              <a:rPr lang="en-US" err="1"/>
              <a:t>relazioni</a:t>
            </a:r>
            <a:r>
              <a:rPr lang="en-US"/>
              <a:t> REVIEWED e FOLLOWS </a:t>
            </a:r>
            <a:r>
              <a:rPr lang="en-US" err="1"/>
              <a:t>nel</a:t>
            </a:r>
            <a:r>
              <a:rPr lang="en-US"/>
              <a:t> </a:t>
            </a:r>
            <a:r>
              <a:rPr lang="en-US" err="1"/>
              <a:t>grafo</a:t>
            </a:r>
            <a:r>
              <a:rPr lang="en-US"/>
              <a:t>. Terza query:  </a:t>
            </a:r>
            <a:r>
              <a:rPr lang="en-US" err="1"/>
              <a:t>Recommend“drinking</a:t>
            </a:r>
            <a:r>
              <a:rPr lang="en-US"/>
              <a:t> buddies” by finding users who share similar beer </a:t>
            </a:r>
            <a:r>
              <a:rPr lang="en-US" err="1"/>
              <a:t>profilesand</a:t>
            </a:r>
            <a:r>
              <a:rPr lang="en-US"/>
              <a:t> live in the same city.</a:t>
            </a:r>
          </a:p>
          <a:p>
            <a:endParaRPr lang="en-US">
              <a:ea typeface="Calibri"/>
              <a:cs typeface="Calibri"/>
            </a:endParaRPr>
          </a:p>
          <a:p>
            <a:r>
              <a:rPr lang="en-US">
                <a:ea typeface="Calibri"/>
                <a:cs typeface="Calibri"/>
              </a:rPr>
              <a:t>The secondary database used is a </a:t>
            </a:r>
            <a:r>
              <a:rPr lang="en-US" err="1">
                <a:ea typeface="Calibri"/>
                <a:cs typeface="Calibri"/>
              </a:rPr>
              <a:t>graphDB</a:t>
            </a:r>
            <a:r>
              <a:rPr lang="en-US">
                <a:ea typeface="Calibri"/>
                <a:cs typeface="Calibri"/>
              </a:rPr>
              <a:t>, that responds to the functional requirements focused on relations and social functionalities of the application. The entity will be Beer, Brewery and User and the possible edges will be: from beer (blue) to brewery (yellow) produced by, from user (green) to brewery (yellow) follows and from user (green) to beer (blue) review.</a:t>
            </a:r>
            <a:br>
              <a:rPr lang="en-US">
                <a:ea typeface="Calibri"/>
                <a:cs typeface="Calibri"/>
              </a:rPr>
            </a:br>
            <a:r>
              <a:rPr lang="en-US">
                <a:ea typeface="Calibri"/>
                <a:cs typeface="Calibri"/>
              </a:rPr>
              <a:t>The main queries that will be done on this are to find users with similar taste, recommend breweries to follow and suggest drinking buddies.</a:t>
            </a:r>
          </a:p>
          <a:p>
            <a:endParaRPr lang="en-US">
              <a:highlight>
                <a:srgbClr val="FFFF00"/>
              </a:highlight>
              <a:ea typeface="Calibri"/>
              <a:cs typeface="Calibri"/>
            </a:endParaRPr>
          </a:p>
          <a:p>
            <a:endParaRPr lang="en-US">
              <a:ea typeface="Calibri"/>
              <a:cs typeface="Calibri"/>
            </a:endParaRPr>
          </a:p>
          <a:p>
            <a:endParaRPr lang="en-US">
              <a:ea typeface="Calibri"/>
              <a:cs typeface="Calibri"/>
            </a:endParaRPr>
          </a:p>
        </p:txBody>
      </p:sp>
      <p:sp>
        <p:nvSpPr>
          <p:cNvPr id="4" name="Segnaposto numero diapositiva 3"/>
          <p:cNvSpPr>
            <a:spLocks noGrp="1"/>
          </p:cNvSpPr>
          <p:nvPr>
            <p:ph type="sldNum" sz="quarter" idx="5"/>
          </p:nvPr>
        </p:nvSpPr>
        <p:spPr/>
        <p:txBody>
          <a:bodyPr/>
          <a:lstStyle/>
          <a:p>
            <a:fld id="{60FDF8BA-B6A2-CC4D-B552-37BF044E1040}" type="slidenum">
              <a:rPr lang="it-IT" smtClean="0"/>
              <a:t>8</a:t>
            </a:fld>
            <a:endParaRPr lang="it-IT"/>
          </a:p>
        </p:txBody>
      </p:sp>
    </p:spTree>
    <p:extLst>
      <p:ext uri="{BB962C8B-B14F-4D97-AF65-F5344CB8AC3E}">
        <p14:creationId xmlns:p14="http://schemas.microsoft.com/office/powerpoint/2010/main" val="3368807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stile</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78081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4201116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stile</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89768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93855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8" name="Segnaposto piè di pagina 7"/>
          <p:cNvSpPr>
            <a:spLocks noGrp="1"/>
          </p:cNvSpPr>
          <p:nvPr>
            <p:ph type="ftr" sz="quarter" idx="11"/>
          </p:nvPr>
        </p:nvSpPr>
        <p:spPr>
          <a:xfrm>
            <a:off x="3124200" y="6356350"/>
            <a:ext cx="2895600" cy="365125"/>
          </a:xfrm>
          <a:prstGeom prst="rect">
            <a:avLst/>
          </a:prstGeom>
        </p:spPr>
        <p:txBody>
          <a:bodyPr/>
          <a:lstStyle/>
          <a:p>
            <a:endParaRPr lang="it-IT"/>
          </a:p>
        </p:txBody>
      </p:sp>
      <p:sp>
        <p:nvSpPr>
          <p:cNvPr id="9" name="Segnaposto numero diapositiva 8"/>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63508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4" name="Segnaposto piè di pagina 3"/>
          <p:cNvSpPr>
            <a:spLocks noGrp="1"/>
          </p:cNvSpPr>
          <p:nvPr>
            <p:ph type="ftr" sz="quarter" idx="11"/>
          </p:nvPr>
        </p:nvSpPr>
        <p:spPr>
          <a:xfrm>
            <a:off x="3124200" y="6356350"/>
            <a:ext cx="2895600" cy="365125"/>
          </a:xfrm>
          <a:prstGeom prst="rect">
            <a:avLst/>
          </a:prstGeom>
        </p:spPr>
        <p:txBody>
          <a:bodyPr/>
          <a:lstStyle/>
          <a:p>
            <a:endParaRPr lang="it-IT"/>
          </a:p>
        </p:txBody>
      </p:sp>
      <p:sp>
        <p:nvSpPr>
          <p:cNvPr id="5" name="Segnaposto numero diapositiva 4"/>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266758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3" name="Segnaposto piè di pagina 2"/>
          <p:cNvSpPr>
            <a:spLocks noGrp="1"/>
          </p:cNvSpPr>
          <p:nvPr>
            <p:ph type="ftr" sz="quarter" idx="11"/>
          </p:nvPr>
        </p:nvSpPr>
        <p:spPr>
          <a:xfrm>
            <a:off x="3124200" y="6356350"/>
            <a:ext cx="2895600" cy="365125"/>
          </a:xfrm>
          <a:prstGeom prst="rect">
            <a:avLst/>
          </a:prstGeom>
        </p:spPr>
        <p:txBody>
          <a:bodyPr/>
          <a:lstStyle/>
          <a:p>
            <a:endParaRPr lang="it-IT"/>
          </a:p>
        </p:txBody>
      </p:sp>
      <p:sp>
        <p:nvSpPr>
          <p:cNvPr id="4" name="Segnaposto numero diapositiva 3"/>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124255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stile</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524671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stile</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295406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79310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15/12/2025</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082130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182741" y="90093"/>
            <a:ext cx="8761797" cy="1143000"/>
          </a:xfrm>
          <a:prstGeom prst="rect">
            <a:avLst/>
          </a:prstGeom>
        </p:spPr>
        <p:txBody>
          <a:bodyPr vert="horz" lIns="91440" tIns="45720" rIns="91440" bIns="45720" rtlCol="0" anchor="ctr">
            <a:normAutofit/>
          </a:bodyPr>
          <a:lstStyle/>
          <a:p>
            <a:r>
              <a:rPr lang="en-US" noProof="0"/>
              <a:t>Fare </a:t>
            </a:r>
            <a:r>
              <a:rPr lang="en-US" noProof="0" err="1"/>
              <a:t>clic</a:t>
            </a:r>
            <a:r>
              <a:rPr lang="en-US" noProof="0"/>
              <a:t> per </a:t>
            </a:r>
            <a:r>
              <a:rPr lang="en-US" noProof="0" err="1"/>
              <a:t>modificare</a:t>
            </a:r>
            <a:r>
              <a:rPr lang="en-US" noProof="0"/>
              <a:t> stile</a:t>
            </a:r>
          </a:p>
        </p:txBody>
      </p:sp>
      <p:sp>
        <p:nvSpPr>
          <p:cNvPr id="3" name="Segnaposto testo 2"/>
          <p:cNvSpPr>
            <a:spLocks noGrp="1"/>
          </p:cNvSpPr>
          <p:nvPr>
            <p:ph type="body" idx="1"/>
          </p:nvPr>
        </p:nvSpPr>
        <p:spPr>
          <a:xfrm>
            <a:off x="182741" y="1350522"/>
            <a:ext cx="8761797" cy="4794457"/>
          </a:xfrm>
          <a:prstGeom prst="rect">
            <a:avLst/>
          </a:prstGeom>
        </p:spPr>
        <p:txBody>
          <a:bodyPr vert="horz" lIns="91440" tIns="45720" rIns="91440" bIns="45720" rtlCol="0">
            <a:normAutofit/>
          </a:bodyPr>
          <a:lstStyle/>
          <a:p>
            <a:pPr lvl="0"/>
            <a:r>
              <a:rPr lang="en-US" noProof="0"/>
              <a:t>Fare </a:t>
            </a:r>
            <a:r>
              <a:rPr lang="en-US" noProof="0" err="1"/>
              <a:t>clic</a:t>
            </a:r>
            <a:r>
              <a:rPr lang="en-US" noProof="0"/>
              <a:t> per </a:t>
            </a:r>
            <a:r>
              <a:rPr lang="en-US" noProof="0" err="1"/>
              <a:t>modificare</a:t>
            </a:r>
            <a:r>
              <a:rPr lang="en-US" noProof="0"/>
              <a:t> </a:t>
            </a:r>
            <a:r>
              <a:rPr lang="en-US" noProof="0" err="1"/>
              <a:t>gli</a:t>
            </a:r>
            <a:r>
              <a:rPr lang="en-US" noProof="0"/>
              <a:t> </a:t>
            </a:r>
            <a:r>
              <a:rPr lang="en-US" noProof="0" err="1"/>
              <a:t>stili</a:t>
            </a:r>
            <a:r>
              <a:rPr lang="en-US" noProof="0"/>
              <a:t> del </a:t>
            </a:r>
            <a:r>
              <a:rPr lang="en-US" noProof="0" err="1"/>
              <a:t>testo</a:t>
            </a:r>
            <a:r>
              <a:rPr lang="en-US" noProof="0"/>
              <a:t> </a:t>
            </a:r>
            <a:r>
              <a:rPr lang="en-US" noProof="0" err="1"/>
              <a:t>dello</a:t>
            </a:r>
            <a:r>
              <a:rPr lang="en-US" noProof="0"/>
              <a:t> schema</a:t>
            </a:r>
          </a:p>
          <a:p>
            <a:pPr lvl="1"/>
            <a:r>
              <a:rPr lang="en-US" noProof="0"/>
              <a:t>Secondo </a:t>
            </a:r>
            <a:r>
              <a:rPr lang="en-US" noProof="0" err="1"/>
              <a:t>livello</a:t>
            </a:r>
            <a:endParaRPr lang="en-US" noProof="0"/>
          </a:p>
          <a:p>
            <a:pPr lvl="2"/>
            <a:r>
              <a:rPr lang="en-US" noProof="0" err="1"/>
              <a:t>Terzo</a:t>
            </a:r>
            <a:r>
              <a:rPr lang="en-US" noProof="0"/>
              <a:t> </a:t>
            </a:r>
            <a:r>
              <a:rPr lang="en-US" noProof="0" err="1"/>
              <a:t>livello</a:t>
            </a:r>
            <a:endParaRPr lang="en-US" noProof="0"/>
          </a:p>
          <a:p>
            <a:pPr lvl="3"/>
            <a:r>
              <a:rPr lang="en-US" noProof="0"/>
              <a:t>Quarto </a:t>
            </a:r>
            <a:r>
              <a:rPr lang="en-US" noProof="0" err="1"/>
              <a:t>livello</a:t>
            </a:r>
            <a:endParaRPr lang="en-US" noProof="0"/>
          </a:p>
          <a:p>
            <a:pPr lvl="4"/>
            <a:r>
              <a:rPr lang="en-US" noProof="0" err="1"/>
              <a:t>Quinto</a:t>
            </a:r>
            <a:r>
              <a:rPr lang="en-US" noProof="0"/>
              <a:t> </a:t>
            </a:r>
            <a:r>
              <a:rPr lang="en-US" noProof="0" err="1"/>
              <a:t>livello</a:t>
            </a:r>
            <a:endParaRPr lang="en-US" noProof="0"/>
          </a:p>
        </p:txBody>
      </p:sp>
      <p:pic>
        <p:nvPicPr>
          <p:cNvPr id="9" name="Immagine 8" descr="crossLabLogo.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130101" y="6226140"/>
            <a:ext cx="1556700" cy="511003"/>
          </a:xfrm>
          <a:prstGeom prst="rect">
            <a:avLst/>
          </a:prstGeom>
        </p:spPr>
      </p:pic>
      <p:pic>
        <p:nvPicPr>
          <p:cNvPr id="10" name="Immagine 9" descr="Schermata 2019-07-02 alle 11.33.44.pn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82742" y="6226140"/>
            <a:ext cx="2392045" cy="548860"/>
          </a:xfrm>
          <a:prstGeom prst="rect">
            <a:avLst/>
          </a:prstGeom>
        </p:spPr>
      </p:pic>
      <p:pic>
        <p:nvPicPr>
          <p:cNvPr id="12" name="Immagine 11" descr="logoUnipi.pn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068848" y="6144979"/>
            <a:ext cx="1307462" cy="696420"/>
          </a:xfrm>
          <a:prstGeom prst="rect">
            <a:avLst/>
          </a:prstGeom>
        </p:spPr>
      </p:pic>
    </p:spTree>
    <p:extLst>
      <p:ext uri="{BB962C8B-B14F-4D97-AF65-F5344CB8AC3E}">
        <p14:creationId xmlns:p14="http://schemas.microsoft.com/office/powerpoint/2010/main" val="1147882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ankurnapa/brewery-dataset"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hyperlink" Target="https://randomuser.me/" TargetMode="External"/><Relationship Id="rId4" Type="http://schemas.openxmlformats.org/officeDocument/2006/relationships/hyperlink" Target="https://www.opendatabay.com/data/ai-ml/0f2eaebe-e8c4-4d69-a4a8-6854506c8ac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0" y="2130425"/>
            <a:ext cx="9144000" cy="1470025"/>
          </a:xfrm>
        </p:spPr>
        <p:txBody>
          <a:bodyPr>
            <a:normAutofit fontScale="90000"/>
          </a:bodyPr>
          <a:lstStyle/>
          <a:p>
            <a:r>
              <a:rPr lang="en-US" sz="3900"/>
              <a:t>Large-Scale and Multi-Structured Databases</a:t>
            </a:r>
            <a:br>
              <a:rPr lang="en-US"/>
            </a:br>
            <a:r>
              <a:rPr lang="en-US" b="1" i="1"/>
              <a:t>Project Design</a:t>
            </a:r>
            <a:br>
              <a:rPr lang="en-US" b="1" i="1"/>
            </a:br>
            <a:r>
              <a:rPr lang="en-US" b="1" i="1"/>
              <a:t>BeerHub</a:t>
            </a:r>
            <a:endParaRPr lang="en-US" b="1" i="1">
              <a:ea typeface="Calibri"/>
              <a:cs typeface="Calibri"/>
            </a:endParaRPr>
          </a:p>
        </p:txBody>
      </p:sp>
      <p:sp>
        <p:nvSpPr>
          <p:cNvPr id="3" name="Sottotitolo 2"/>
          <p:cNvSpPr>
            <a:spLocks noGrp="1"/>
          </p:cNvSpPr>
          <p:nvPr>
            <p:ph type="subTitle" idx="1"/>
          </p:nvPr>
        </p:nvSpPr>
        <p:spPr>
          <a:xfrm>
            <a:off x="776614" y="3854885"/>
            <a:ext cx="7590772" cy="1752600"/>
          </a:xfrm>
        </p:spPr>
        <p:txBody>
          <a:bodyPr vert="horz" lIns="91440" tIns="45720" rIns="91440" bIns="45720" rtlCol="0" anchor="t">
            <a:normAutofit/>
          </a:bodyPr>
          <a:lstStyle/>
          <a:p>
            <a:r>
              <a:rPr lang="it-IT"/>
              <a:t>Marco Lari, Luca Minuti, Tommaso Pellegrini</a:t>
            </a:r>
            <a:endParaRPr lang="it-IT">
              <a:ea typeface="Calibri"/>
              <a:cs typeface="Calibri"/>
            </a:endParaRPr>
          </a:p>
        </p:txBody>
      </p:sp>
    </p:spTree>
    <p:extLst>
      <p:ext uri="{BB962C8B-B14F-4D97-AF65-F5344CB8AC3E}">
        <p14:creationId xmlns:p14="http://schemas.microsoft.com/office/powerpoint/2010/main" val="1621469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3632E-76E6-2A49-A199-3826627DF6B8}"/>
              </a:ext>
            </a:extLst>
          </p:cNvPr>
          <p:cNvSpPr>
            <a:spLocks noGrp="1"/>
          </p:cNvSpPr>
          <p:nvPr>
            <p:ph type="title"/>
          </p:nvPr>
        </p:nvSpPr>
        <p:spPr/>
        <p:txBody>
          <a:bodyPr/>
          <a:lstStyle/>
          <a:p>
            <a:r>
              <a:rPr lang="en-US"/>
              <a:t>Application Highlights</a:t>
            </a:r>
          </a:p>
        </p:txBody>
      </p:sp>
      <p:sp>
        <p:nvSpPr>
          <p:cNvPr id="3" name="CasellaDiTesto 2">
            <a:extLst>
              <a:ext uri="{FF2B5EF4-FFF2-40B4-BE49-F238E27FC236}">
                <a16:creationId xmlns:a16="http://schemas.microsoft.com/office/drawing/2014/main" id="{A701C8F0-FB4C-4E4E-804F-9EE05D7441C4}"/>
              </a:ext>
            </a:extLst>
          </p:cNvPr>
          <p:cNvSpPr txBox="1"/>
          <p:nvPr/>
        </p:nvSpPr>
        <p:spPr>
          <a:xfrm>
            <a:off x="402131" y="1236168"/>
            <a:ext cx="8343900" cy="4939814"/>
          </a:xfrm>
          <a:prstGeom prst="rect">
            <a:avLst/>
          </a:prstGeom>
          <a:noFill/>
        </p:spPr>
        <p:txBody>
          <a:bodyPr wrap="square" lIns="91440" tIns="45720" rIns="91440" bIns="45720" rtlCol="0" anchor="t">
            <a:spAutoFit/>
          </a:bodyPr>
          <a:lstStyle/>
          <a:p>
            <a:r>
              <a:rPr lang="en-US" sz="2000" b="1">
                <a:ea typeface="+mn-lt"/>
                <a:cs typeface="+mn-lt"/>
              </a:rPr>
              <a:t>BeerHub is an application designed for beer lovers to explore, compare and share experiences about thousands of beers from around the world.</a:t>
            </a:r>
            <a:endParaRPr lang="it-IT" sz="2000" b="1">
              <a:ea typeface="+mn-lt"/>
              <a:cs typeface="+mn-lt"/>
            </a:endParaRPr>
          </a:p>
          <a:p>
            <a:endParaRPr lang="en-US" sz="2000" b="1">
              <a:ea typeface="Calibri"/>
              <a:cs typeface="Calibri"/>
            </a:endParaRPr>
          </a:p>
          <a:p>
            <a:pPr marL="285750" indent="-285750">
              <a:lnSpc>
                <a:spcPct val="150000"/>
              </a:lnSpc>
              <a:buFont typeface="Arial"/>
              <a:buChar char="•"/>
            </a:pPr>
            <a:r>
              <a:rPr lang="en-US" sz="2000">
                <a:ea typeface="+mn-lt"/>
                <a:cs typeface="+mn-lt"/>
              </a:rPr>
              <a:t>Browse and filter beers by style, country, brewery and ABV</a:t>
            </a:r>
            <a:endParaRPr lang="en-US" sz="2000">
              <a:ea typeface="Calibri"/>
              <a:cs typeface="Calibri"/>
            </a:endParaRPr>
          </a:p>
          <a:p>
            <a:pPr marL="285750" indent="-285750">
              <a:lnSpc>
                <a:spcPct val="150000"/>
              </a:lnSpc>
              <a:buFont typeface="Arial"/>
              <a:buChar char="•"/>
            </a:pPr>
            <a:r>
              <a:rPr lang="en-US" sz="2000">
                <a:ea typeface="+mn-lt"/>
                <a:cs typeface="+mn-lt"/>
              </a:rPr>
              <a:t>View detailed beer profiles enriched with user reviews</a:t>
            </a:r>
            <a:endParaRPr lang="en-US" sz="2000">
              <a:ea typeface="Calibri"/>
              <a:cs typeface="Calibri"/>
            </a:endParaRPr>
          </a:p>
          <a:p>
            <a:pPr marL="285750" indent="-285750">
              <a:lnSpc>
                <a:spcPct val="150000"/>
              </a:lnSpc>
              <a:buFont typeface="Arial"/>
              <a:buChar char="•"/>
            </a:pPr>
            <a:r>
              <a:rPr lang="en-US" sz="2000">
                <a:ea typeface="+mn-lt"/>
                <a:cs typeface="+mn-lt"/>
              </a:rPr>
              <a:t>Write and manage personal reviews</a:t>
            </a:r>
            <a:endParaRPr lang="en-US" sz="2000">
              <a:ea typeface="Calibri"/>
              <a:cs typeface="Calibri"/>
            </a:endParaRPr>
          </a:p>
          <a:p>
            <a:pPr marL="285750" indent="-285750">
              <a:lnSpc>
                <a:spcPct val="150000"/>
              </a:lnSpc>
              <a:buFont typeface="Arial"/>
              <a:buChar char="•"/>
            </a:pPr>
            <a:r>
              <a:rPr lang="en-US" sz="2000">
                <a:ea typeface="+mn-lt"/>
                <a:cs typeface="+mn-lt"/>
              </a:rPr>
              <a:t>Follow breweries to stay updated on their beers</a:t>
            </a:r>
            <a:endParaRPr lang="en-US" sz="2000">
              <a:ea typeface="Calibri"/>
              <a:cs typeface="Calibri"/>
            </a:endParaRPr>
          </a:p>
          <a:p>
            <a:pPr marL="285750" indent="-285750">
              <a:lnSpc>
                <a:spcPct val="150000"/>
              </a:lnSpc>
              <a:buFont typeface="Arial"/>
              <a:buChar char="•"/>
            </a:pPr>
            <a:r>
              <a:rPr lang="en-US" sz="2000">
                <a:ea typeface="+mn-lt"/>
                <a:cs typeface="+mn-lt"/>
              </a:rPr>
              <a:t>Discover similar users through graph-based analytics</a:t>
            </a:r>
            <a:endParaRPr lang="en-US" sz="2000">
              <a:ea typeface="Calibri"/>
              <a:cs typeface="Calibri"/>
            </a:endParaRPr>
          </a:p>
          <a:p>
            <a:pPr marL="285750" indent="-285750">
              <a:lnSpc>
                <a:spcPct val="150000"/>
              </a:lnSpc>
              <a:buFont typeface="Arial"/>
              <a:buChar char="•"/>
            </a:pPr>
            <a:r>
              <a:rPr lang="en-US" sz="2000">
                <a:ea typeface="+mn-lt"/>
                <a:cs typeface="+mn-lt"/>
              </a:rPr>
              <a:t>Find “drinking buddies” with shared tastes and location</a:t>
            </a:r>
            <a:endParaRPr lang="en-US" sz="2000">
              <a:ea typeface="Calibri"/>
              <a:cs typeface="Calibri"/>
            </a:endParaRPr>
          </a:p>
          <a:p>
            <a:pPr marL="285750" indent="-285750">
              <a:lnSpc>
                <a:spcPct val="150000"/>
              </a:lnSpc>
              <a:buFont typeface="Arial"/>
              <a:buChar char="•"/>
            </a:pPr>
            <a:r>
              <a:rPr lang="en-US" sz="2000">
                <a:ea typeface="+mn-lt"/>
                <a:cs typeface="+mn-lt"/>
              </a:rPr>
              <a:t>Simple and intuitive interface, accessible to all types of users</a:t>
            </a:r>
          </a:p>
          <a:p>
            <a:pPr>
              <a:lnSpc>
                <a:spcPct val="150000"/>
              </a:lnSpc>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p:txBody>
      </p:sp>
    </p:spTree>
    <p:extLst>
      <p:ext uri="{BB962C8B-B14F-4D97-AF65-F5344CB8AC3E}">
        <p14:creationId xmlns:p14="http://schemas.microsoft.com/office/powerpoint/2010/main" val="1042111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1D8A20-7DC5-3042-A86D-62CF3361ACA7}"/>
              </a:ext>
            </a:extLst>
          </p:cNvPr>
          <p:cNvSpPr>
            <a:spLocks noGrp="1"/>
          </p:cNvSpPr>
          <p:nvPr>
            <p:ph type="title"/>
          </p:nvPr>
        </p:nvSpPr>
        <p:spPr>
          <a:xfrm>
            <a:off x="182741" y="90093"/>
            <a:ext cx="8761797" cy="1143000"/>
          </a:xfrm>
        </p:spPr>
        <p:txBody>
          <a:bodyPr vert="horz" lIns="91440" tIns="45720" rIns="91440" bIns="45720" rtlCol="0" anchor="ctr">
            <a:normAutofit/>
          </a:bodyPr>
          <a:lstStyle/>
          <a:p>
            <a:r>
              <a:rPr lang="it-IT" kern="1200">
                <a:latin typeface="+mj-lt"/>
                <a:ea typeface="+mj-ea"/>
                <a:cs typeface="+mj-cs"/>
              </a:rPr>
              <a:t>Actors and main mock-ups (i)</a:t>
            </a:r>
          </a:p>
        </p:txBody>
      </p:sp>
      <p:sp>
        <p:nvSpPr>
          <p:cNvPr id="3" name="CasellaDiTesto 2">
            <a:extLst>
              <a:ext uri="{FF2B5EF4-FFF2-40B4-BE49-F238E27FC236}">
                <a16:creationId xmlns:a16="http://schemas.microsoft.com/office/drawing/2014/main" id="{391F4034-971B-8A4B-888B-5902E8333D6B}"/>
              </a:ext>
            </a:extLst>
          </p:cNvPr>
          <p:cNvSpPr txBox="1"/>
          <p:nvPr/>
        </p:nvSpPr>
        <p:spPr>
          <a:xfrm>
            <a:off x="457200" y="1600200"/>
            <a:ext cx="4038600" cy="4525963"/>
          </a:xfrm>
          <a:prstGeom prst="rect">
            <a:avLst/>
          </a:prstGeom>
        </p:spPr>
        <p:txBody>
          <a:bodyPr vert="horz" lIns="91440" tIns="45720" rIns="91440" bIns="45720" rtlCol="0" anchor="t">
            <a:normAutofit/>
          </a:bodyPr>
          <a:lstStyle/>
          <a:p>
            <a:pPr>
              <a:lnSpc>
                <a:spcPct val="90000"/>
              </a:lnSpc>
              <a:spcBef>
                <a:spcPct val="20000"/>
              </a:spcBef>
            </a:pPr>
            <a:r>
              <a:rPr lang="it-IT" sz="2400" b="1"/>
              <a:t>Actors</a:t>
            </a:r>
            <a:endParaRPr lang="it-IT"/>
          </a:p>
          <a:p>
            <a:pPr marL="342900" indent="-342900">
              <a:lnSpc>
                <a:spcPct val="90000"/>
              </a:lnSpc>
              <a:spcBef>
                <a:spcPct val="20000"/>
              </a:spcBef>
              <a:buFont typeface="Arial"/>
              <a:buChar char="•"/>
            </a:pPr>
            <a:r>
              <a:rPr lang="it-IT" sz="2400" b="1" err="1"/>
              <a:t>Unregistered</a:t>
            </a:r>
            <a:r>
              <a:rPr lang="it-IT" sz="2400" b="1"/>
              <a:t> user: </a:t>
            </a:r>
            <a:r>
              <a:rPr lang="it-IT" sz="2400"/>
              <a:t>can do the </a:t>
            </a:r>
            <a:r>
              <a:rPr lang="it-IT" sz="2400" err="1"/>
              <a:t>sign</a:t>
            </a:r>
            <a:r>
              <a:rPr lang="it-IT" sz="2400"/>
              <a:t> up. He can </a:t>
            </a:r>
            <a:r>
              <a:rPr lang="it-IT" sz="2400" err="1"/>
              <a:t>browse</a:t>
            </a:r>
            <a:r>
              <a:rPr lang="it-IT" sz="2400"/>
              <a:t> </a:t>
            </a:r>
            <a:r>
              <a:rPr lang="it-IT" sz="2400" err="1"/>
              <a:t>beers</a:t>
            </a:r>
            <a:r>
              <a:rPr lang="it-IT" sz="2400"/>
              <a:t> and </a:t>
            </a:r>
            <a:r>
              <a:rPr lang="it-IT" sz="2400" err="1"/>
              <a:t>breweries</a:t>
            </a:r>
            <a:r>
              <a:rPr lang="it-IT" sz="2400"/>
              <a:t> and </a:t>
            </a:r>
            <a:r>
              <a:rPr lang="it-IT" sz="2400" err="1"/>
              <a:t>see</a:t>
            </a:r>
            <a:r>
              <a:rPr lang="it-IT" sz="2400"/>
              <a:t> </a:t>
            </a:r>
            <a:r>
              <a:rPr lang="it-IT" sz="2400" err="1"/>
              <a:t>their</a:t>
            </a:r>
            <a:r>
              <a:rPr lang="it-IT" sz="2400"/>
              <a:t> </a:t>
            </a:r>
            <a:r>
              <a:rPr lang="it-IT" sz="2400" err="1"/>
              <a:t>details</a:t>
            </a:r>
            <a:r>
              <a:rPr lang="it-IT" sz="2400"/>
              <a:t>.</a:t>
            </a:r>
            <a:endParaRPr lang="it-IT" sz="2400">
              <a:ea typeface="Calibri"/>
              <a:cs typeface="Calibri"/>
            </a:endParaRPr>
          </a:p>
          <a:p>
            <a:pPr marL="342900" indent="-342900">
              <a:lnSpc>
                <a:spcPct val="90000"/>
              </a:lnSpc>
              <a:spcBef>
                <a:spcPct val="20000"/>
              </a:spcBef>
              <a:buFont typeface="Arial"/>
              <a:buChar char="•"/>
            </a:pPr>
            <a:r>
              <a:rPr lang="it-IT" sz="2400" b="1" err="1"/>
              <a:t>Registered</a:t>
            </a:r>
            <a:r>
              <a:rPr lang="it-IT" sz="2400" b="1"/>
              <a:t> user:</a:t>
            </a:r>
            <a:r>
              <a:rPr lang="it-IT" sz="2400"/>
              <a:t> can use </a:t>
            </a:r>
            <a:r>
              <a:rPr lang="it-IT" sz="2400" err="1"/>
              <a:t>all</a:t>
            </a:r>
            <a:r>
              <a:rPr lang="it-IT" sz="2400"/>
              <a:t> the features of the </a:t>
            </a:r>
            <a:r>
              <a:rPr lang="it-IT" sz="2400" err="1"/>
              <a:t>application</a:t>
            </a:r>
            <a:r>
              <a:rPr lang="it-IT" sz="2400"/>
              <a:t>.</a:t>
            </a:r>
            <a:endParaRPr lang="it-IT" sz="2400">
              <a:ea typeface="Calibri"/>
              <a:cs typeface="Calibri"/>
            </a:endParaRPr>
          </a:p>
          <a:p>
            <a:pPr marL="342900" indent="-342900">
              <a:lnSpc>
                <a:spcPct val="90000"/>
              </a:lnSpc>
              <a:spcBef>
                <a:spcPct val="20000"/>
              </a:spcBef>
              <a:buFont typeface="Arial"/>
              <a:buChar char="•"/>
            </a:pPr>
            <a:r>
              <a:rPr lang="it-IT" sz="2400" b="1"/>
              <a:t>Administrator: </a:t>
            </a:r>
            <a:r>
              <a:rPr lang="it-IT" sz="2400" err="1"/>
              <a:t>manages</a:t>
            </a:r>
            <a:r>
              <a:rPr lang="it-IT" sz="2400"/>
              <a:t> users and datasets. He can delete reviews and </a:t>
            </a:r>
            <a:r>
              <a:rPr lang="it-IT" sz="2400" err="1"/>
              <a:t>bad</a:t>
            </a:r>
            <a:r>
              <a:rPr lang="it-IT" sz="2400"/>
              <a:t> users.</a:t>
            </a:r>
            <a:endParaRPr lang="it-IT" sz="2400">
              <a:ea typeface="Calibri"/>
              <a:cs typeface="Calibri"/>
            </a:endParaRPr>
          </a:p>
        </p:txBody>
      </p:sp>
      <p:pic>
        <p:nvPicPr>
          <p:cNvPr id="4" name="Immagine 3" descr="Immagine che contiene testo, schermata, design&#10;&#10;Il contenuto generato dall&amp;#39;IA potrebbe non essere corretto.">
            <a:extLst>
              <a:ext uri="{FF2B5EF4-FFF2-40B4-BE49-F238E27FC236}">
                <a16:creationId xmlns:a16="http://schemas.microsoft.com/office/drawing/2014/main" id="{B1766C43-3340-23C5-4CFE-DBE787F4DD8A}"/>
              </a:ext>
            </a:extLst>
          </p:cNvPr>
          <p:cNvPicPr>
            <a:picLocks noChangeAspect="1"/>
          </p:cNvPicPr>
          <p:nvPr/>
        </p:nvPicPr>
        <p:blipFill>
          <a:blip r:embed="rId3"/>
          <a:stretch>
            <a:fillRect/>
          </a:stretch>
        </p:blipFill>
        <p:spPr>
          <a:xfrm>
            <a:off x="4293296" y="2319022"/>
            <a:ext cx="4550078" cy="3088319"/>
          </a:xfrm>
          <a:prstGeom prst="rect">
            <a:avLst/>
          </a:prstGeom>
          <a:noFill/>
        </p:spPr>
      </p:pic>
    </p:spTree>
    <p:extLst>
      <p:ext uri="{BB962C8B-B14F-4D97-AF65-F5344CB8AC3E}">
        <p14:creationId xmlns:p14="http://schemas.microsoft.com/office/powerpoint/2010/main" val="710998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1D8A20-7DC5-3042-A86D-62CF3361ACA7}"/>
              </a:ext>
            </a:extLst>
          </p:cNvPr>
          <p:cNvSpPr>
            <a:spLocks noGrp="1"/>
          </p:cNvSpPr>
          <p:nvPr>
            <p:ph type="title"/>
          </p:nvPr>
        </p:nvSpPr>
        <p:spPr>
          <a:xfrm>
            <a:off x="182741" y="90093"/>
            <a:ext cx="8761797" cy="1143000"/>
          </a:xfrm>
        </p:spPr>
        <p:txBody>
          <a:bodyPr anchor="ctr">
            <a:normAutofit/>
          </a:bodyPr>
          <a:lstStyle/>
          <a:p>
            <a:r>
              <a:rPr lang="en-US"/>
              <a:t>Actors and main mock-ups (ii)</a:t>
            </a:r>
          </a:p>
        </p:txBody>
      </p:sp>
      <p:pic>
        <p:nvPicPr>
          <p:cNvPr id="3" name="Immagine 2" descr="Immagine che contiene testo, schermata, Carattere, numero&#10;&#10;Il contenuto generato dall&amp;#39;IA potrebbe non essere corretto.">
            <a:extLst>
              <a:ext uri="{FF2B5EF4-FFF2-40B4-BE49-F238E27FC236}">
                <a16:creationId xmlns:a16="http://schemas.microsoft.com/office/drawing/2014/main" id="{D03990EE-8902-D6B8-7295-262929D637B5}"/>
              </a:ext>
            </a:extLst>
          </p:cNvPr>
          <p:cNvPicPr>
            <a:picLocks noChangeAspect="1"/>
          </p:cNvPicPr>
          <p:nvPr/>
        </p:nvPicPr>
        <p:blipFill>
          <a:blip r:embed="rId3"/>
          <a:stretch>
            <a:fillRect/>
          </a:stretch>
        </p:blipFill>
        <p:spPr>
          <a:xfrm>
            <a:off x="1101938" y="1350522"/>
            <a:ext cx="6923403" cy="4794457"/>
          </a:xfrm>
          <a:prstGeom prst="rect">
            <a:avLst/>
          </a:prstGeom>
          <a:noFill/>
        </p:spPr>
      </p:pic>
    </p:spTree>
    <p:extLst>
      <p:ext uri="{BB962C8B-B14F-4D97-AF65-F5344CB8AC3E}">
        <p14:creationId xmlns:p14="http://schemas.microsoft.com/office/powerpoint/2010/main" val="911721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A93700-7F87-6E45-9902-A8B2384A37AF}"/>
              </a:ext>
            </a:extLst>
          </p:cNvPr>
          <p:cNvSpPr>
            <a:spLocks noGrp="1"/>
          </p:cNvSpPr>
          <p:nvPr>
            <p:ph type="title"/>
          </p:nvPr>
        </p:nvSpPr>
        <p:spPr/>
        <p:txBody>
          <a:bodyPr/>
          <a:lstStyle/>
          <a:p>
            <a:r>
              <a:rPr lang="en-US"/>
              <a:t>Dataset Description</a:t>
            </a:r>
          </a:p>
        </p:txBody>
      </p:sp>
      <p:sp>
        <p:nvSpPr>
          <p:cNvPr id="3" name="CasellaDiTesto 2">
            <a:extLst>
              <a:ext uri="{FF2B5EF4-FFF2-40B4-BE49-F238E27FC236}">
                <a16:creationId xmlns:a16="http://schemas.microsoft.com/office/drawing/2014/main" id="{068E8217-0879-6045-A028-80534F620714}"/>
              </a:ext>
            </a:extLst>
          </p:cNvPr>
          <p:cNvSpPr txBox="1"/>
          <p:nvPr/>
        </p:nvSpPr>
        <p:spPr>
          <a:xfrm>
            <a:off x="195780" y="1238603"/>
            <a:ext cx="8752440" cy="4708981"/>
          </a:xfrm>
          <a:prstGeom prst="rect">
            <a:avLst/>
          </a:prstGeom>
          <a:noFill/>
        </p:spPr>
        <p:txBody>
          <a:bodyPr wrap="square" lIns="91440" tIns="45720" rIns="91440" bIns="45720" rtlCol="0" anchor="t">
            <a:spAutoFit/>
          </a:bodyPr>
          <a:lstStyle/>
          <a:p>
            <a:r>
              <a:rPr lang="en-US" sz="2000" b="1" i="1"/>
              <a:t>Source: </a:t>
            </a:r>
            <a:r>
              <a:rPr lang="en-US" sz="2000">
                <a:hlinkClick r:id="rId3"/>
              </a:rPr>
              <a:t>Kaggle-Brewery Dataset</a:t>
            </a:r>
            <a:r>
              <a:rPr lang="en-US" sz="2000"/>
              <a:t>, </a:t>
            </a:r>
            <a:r>
              <a:rPr lang="en-US" sz="2000">
                <a:hlinkClick r:id="rId4"/>
              </a:rPr>
              <a:t>OpenDataBay-Beer Profile</a:t>
            </a:r>
            <a:r>
              <a:rPr lang="en-US" sz="2000"/>
              <a:t>, </a:t>
            </a:r>
            <a:r>
              <a:rPr lang="en-US" sz="2000">
                <a:hlinkClick r:id="rId5"/>
              </a:rPr>
              <a:t>RandomUser API</a:t>
            </a:r>
            <a:endParaRPr lang="en-US" sz="2000">
              <a:ea typeface="Calibri"/>
              <a:cs typeface="Calibri"/>
            </a:endParaRPr>
          </a:p>
          <a:p>
            <a:pPr lvl="0"/>
            <a:endParaRPr lang="en-US" sz="2000" b="1" i="1"/>
          </a:p>
          <a:p>
            <a:r>
              <a:rPr lang="en-US" sz="2000" b="1" i="1"/>
              <a:t>Description: </a:t>
            </a:r>
            <a:r>
              <a:rPr lang="en-US" sz="2000"/>
              <a:t>Dataset integrating information about beers, breweries, reviews and synthetic users. Includes beer attributes (name, style, ABV, brewery, country), brewery data (id, name, location), review data (score, text, date) and user profiles (username, age, city, country).</a:t>
            </a:r>
            <a:endParaRPr lang="en-US" sz="2000">
              <a:ea typeface="Calibri"/>
              <a:cs typeface="Calibri"/>
            </a:endParaRPr>
          </a:p>
          <a:p>
            <a:pPr lvl="0"/>
            <a:endParaRPr lang="en-US" sz="2000" b="1" i="1"/>
          </a:p>
          <a:p>
            <a:r>
              <a:rPr lang="en-US" sz="2000" b="1" i="1"/>
              <a:t>Volume: </a:t>
            </a:r>
            <a:r>
              <a:rPr lang="en-US" sz="2000"/>
              <a:t>28MB (beers) + 3MB (breweries) + 24MB (reviews) + 1MB (users) = 56MB</a:t>
            </a:r>
            <a:endParaRPr lang="en-US" sz="2000">
              <a:ea typeface="Calibri"/>
              <a:cs typeface="Calibri"/>
            </a:endParaRPr>
          </a:p>
          <a:p>
            <a:pPr lvl="0"/>
            <a:endParaRPr lang="en-US" sz="2000" b="1" i="1"/>
          </a:p>
          <a:p>
            <a:r>
              <a:rPr lang="en-US" sz="2000" b="1" i="1"/>
              <a:t>Variety</a:t>
            </a:r>
            <a:r>
              <a:rPr lang="en-US" sz="2000"/>
              <a:t>: </a:t>
            </a:r>
            <a:r>
              <a:rPr lang="en-US" sz="2000">
                <a:ea typeface="+mn-lt"/>
                <a:cs typeface="+mn-lt"/>
              </a:rPr>
              <a:t>Guaranteed using multiple independent sources (Kaggle, </a:t>
            </a:r>
            <a:r>
              <a:rPr lang="en-US" sz="2000" err="1">
                <a:ea typeface="+mn-lt"/>
                <a:cs typeface="+mn-lt"/>
              </a:rPr>
              <a:t>OpenDataBay</a:t>
            </a:r>
            <a:r>
              <a:rPr lang="en-US" sz="2000">
                <a:ea typeface="+mn-lt"/>
                <a:cs typeface="+mn-lt"/>
              </a:rPr>
              <a:t>, </a:t>
            </a:r>
            <a:r>
              <a:rPr lang="en-US" sz="2000" err="1">
                <a:ea typeface="+mn-lt"/>
                <a:cs typeface="+mn-lt"/>
              </a:rPr>
              <a:t>RandomUser</a:t>
            </a:r>
            <a:r>
              <a:rPr lang="en-US" sz="2000">
                <a:ea typeface="+mn-lt"/>
                <a:cs typeface="+mn-lt"/>
              </a:rPr>
              <a:t>) and by the integration of the two beer datasets, which required aligning attributes and combining different types of information such as beer details, brewery data, review text and user demographics.</a:t>
            </a:r>
          </a:p>
          <a:p>
            <a:pPr lvl="0"/>
            <a:endParaRPr lang="en-US" sz="2000" b="1" i="1"/>
          </a:p>
          <a:p>
            <a:pPr lvl="0"/>
            <a:endParaRPr lang="en-US" sz="2000"/>
          </a:p>
        </p:txBody>
      </p:sp>
    </p:spTree>
    <p:extLst>
      <p:ext uri="{BB962C8B-B14F-4D97-AF65-F5344CB8AC3E}">
        <p14:creationId xmlns:p14="http://schemas.microsoft.com/office/powerpoint/2010/main" val="1056679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1A7364-9B4E-DC49-AA70-BE5A302DEAAF}"/>
              </a:ext>
            </a:extLst>
          </p:cNvPr>
          <p:cNvSpPr>
            <a:spLocks noGrp="1"/>
          </p:cNvSpPr>
          <p:nvPr>
            <p:ph type="title"/>
          </p:nvPr>
        </p:nvSpPr>
        <p:spPr>
          <a:xfrm>
            <a:off x="182741" y="90093"/>
            <a:ext cx="8761797" cy="1143000"/>
          </a:xfrm>
        </p:spPr>
        <p:txBody>
          <a:bodyPr anchor="ctr">
            <a:normAutofit/>
          </a:bodyPr>
          <a:lstStyle/>
          <a:p>
            <a:r>
              <a:rPr lang="en-US"/>
              <a:t>Preliminary UML Class Diagram</a:t>
            </a:r>
          </a:p>
        </p:txBody>
      </p:sp>
      <p:pic>
        <p:nvPicPr>
          <p:cNvPr id="4" name="Elemento grafico 3">
            <a:extLst>
              <a:ext uri="{FF2B5EF4-FFF2-40B4-BE49-F238E27FC236}">
                <a16:creationId xmlns:a16="http://schemas.microsoft.com/office/drawing/2014/main" id="{88D278ED-7CB0-50D6-46FC-0BCBCEB3F5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5033" y="1350522"/>
            <a:ext cx="8117212" cy="4794457"/>
          </a:xfrm>
          <a:prstGeom prst="rect">
            <a:avLst/>
          </a:prstGeom>
        </p:spPr>
      </p:pic>
    </p:spTree>
    <p:extLst>
      <p:ext uri="{BB962C8B-B14F-4D97-AF65-F5344CB8AC3E}">
        <p14:creationId xmlns:p14="http://schemas.microsoft.com/office/powerpoint/2010/main" val="773792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8C7EEC7-48BB-B542-9A2A-E3C09D99B916}"/>
              </a:ext>
            </a:extLst>
          </p:cNvPr>
          <p:cNvSpPr>
            <a:spLocks noGrp="1"/>
          </p:cNvSpPr>
          <p:nvPr>
            <p:ph type="title"/>
          </p:nvPr>
        </p:nvSpPr>
        <p:spPr/>
        <p:txBody>
          <a:bodyPr>
            <a:normAutofit fontScale="90000"/>
          </a:bodyPr>
          <a:lstStyle/>
          <a:p>
            <a:r>
              <a:rPr lang="en-US"/>
              <a:t>Relevant Queries and Entities </a:t>
            </a:r>
            <a:br>
              <a:rPr lang="en-US"/>
            </a:br>
            <a:r>
              <a:rPr lang="en-US"/>
              <a:t>handled by Document DB</a:t>
            </a:r>
          </a:p>
        </p:txBody>
      </p:sp>
      <p:sp>
        <p:nvSpPr>
          <p:cNvPr id="3" name="CasellaDiTesto 2">
            <a:extLst>
              <a:ext uri="{FF2B5EF4-FFF2-40B4-BE49-F238E27FC236}">
                <a16:creationId xmlns:a16="http://schemas.microsoft.com/office/drawing/2014/main" id="{EACFDDDE-7C48-D314-60A3-49ADC540D82F}"/>
              </a:ext>
            </a:extLst>
          </p:cNvPr>
          <p:cNvSpPr txBox="1"/>
          <p:nvPr/>
        </p:nvSpPr>
        <p:spPr>
          <a:xfrm>
            <a:off x="538843" y="1469572"/>
            <a:ext cx="7494814" cy="4339650"/>
          </a:xfrm>
          <a:prstGeom prst="rect">
            <a:avLst/>
          </a:prstGeom>
          <a:noFill/>
        </p:spPr>
        <p:txBody>
          <a:bodyPr wrap="square" lIns="91440" tIns="45720" rIns="91440" bIns="45720" rtlCol="0" anchor="t">
            <a:spAutoFit/>
          </a:bodyPr>
          <a:lstStyle/>
          <a:p>
            <a:r>
              <a:rPr lang="en-US" sz="2000" b="1">
                <a:ea typeface="Calibri"/>
                <a:cs typeface="Calibri"/>
              </a:rPr>
              <a:t>Most relevant functional requirements:</a:t>
            </a:r>
          </a:p>
          <a:p>
            <a:pPr marL="285750" indent="-285750">
              <a:buFont typeface="Arial"/>
              <a:buChar char="•"/>
            </a:pPr>
            <a:r>
              <a:rPr lang="en-US" sz="2000">
                <a:ea typeface="+mn-lt"/>
                <a:cs typeface="+mn-lt"/>
              </a:rPr>
              <a:t>View detailed beer information</a:t>
            </a:r>
            <a:endParaRPr lang="en-US" sz="2000">
              <a:ea typeface="Calibri"/>
              <a:cs typeface="Calibri"/>
            </a:endParaRPr>
          </a:p>
          <a:p>
            <a:pPr marL="285750" indent="-285750">
              <a:buFont typeface="Arial"/>
              <a:buChar char="•"/>
            </a:pPr>
            <a:r>
              <a:rPr lang="en-US" sz="2000">
                <a:ea typeface="+mn-lt"/>
                <a:cs typeface="+mn-lt"/>
              </a:rPr>
              <a:t>Browse and filter beers by style, country, brewery and ABV range</a:t>
            </a:r>
            <a:endParaRPr lang="en-US" sz="2000">
              <a:ea typeface="Calibri"/>
              <a:cs typeface="Calibri"/>
            </a:endParaRPr>
          </a:p>
          <a:p>
            <a:pPr marL="285750" indent="-285750">
              <a:buFont typeface="Arial"/>
              <a:buChar char="•"/>
            </a:pPr>
            <a:r>
              <a:rPr lang="en-US" sz="2000">
                <a:ea typeface="+mn-lt"/>
                <a:cs typeface="+mn-lt"/>
              </a:rPr>
              <a:t>Show reviews for a selected beer (with score and text)</a:t>
            </a:r>
          </a:p>
          <a:p>
            <a:pPr marL="285750" indent="-285750">
              <a:buFont typeface="Arial"/>
              <a:buChar char="•"/>
            </a:pPr>
            <a:r>
              <a:rPr lang="en-US" sz="2000">
                <a:ea typeface="+mn-lt"/>
                <a:cs typeface="+mn-lt"/>
              </a:rPr>
              <a:t>Suggest beers based on user attributes</a:t>
            </a:r>
          </a:p>
          <a:p>
            <a:pPr marL="285750" indent="-285750">
              <a:buFont typeface="Arial"/>
              <a:buChar char="•"/>
            </a:pPr>
            <a:r>
              <a:rPr lang="en-US" sz="2000">
                <a:ea typeface="+mn-lt"/>
                <a:cs typeface="+mn-lt"/>
              </a:rPr>
              <a:t>Compute average rating and number of reviews for a selected beer</a:t>
            </a:r>
            <a:endParaRPr lang="en-US" sz="2000">
              <a:ea typeface="Calibri"/>
              <a:cs typeface="Calibri"/>
            </a:endParaRPr>
          </a:p>
          <a:p>
            <a:pPr marL="285750" indent="-285750">
              <a:buFont typeface="Arial"/>
              <a:buChar char="•"/>
            </a:pPr>
            <a:r>
              <a:rPr lang="en-US" sz="2000">
                <a:ea typeface="+mn-lt"/>
                <a:cs typeface="+mn-lt"/>
              </a:rPr>
              <a:t>Find the most common beer style for a user-selected country</a:t>
            </a:r>
            <a:endParaRPr lang="en-US" sz="2000">
              <a:ea typeface="Calibri"/>
              <a:cs typeface="Calibri"/>
            </a:endParaRPr>
          </a:p>
          <a:p>
            <a:endParaRPr lang="en-US">
              <a:ea typeface="Calibri"/>
              <a:cs typeface="Calibri"/>
            </a:endParaRPr>
          </a:p>
          <a:p>
            <a:endParaRPr lang="en-US">
              <a:ea typeface="Calibri"/>
              <a:cs typeface="Calibri"/>
            </a:endParaRPr>
          </a:p>
          <a:p>
            <a:r>
              <a:rPr lang="en-US" sz="2000" b="1">
                <a:ea typeface="Calibri"/>
                <a:cs typeface="Calibri"/>
              </a:rPr>
              <a:t>Entities</a:t>
            </a:r>
          </a:p>
          <a:p>
            <a:pPr marL="342900" indent="-342900">
              <a:buFont typeface="Arial"/>
              <a:buChar char="•"/>
            </a:pPr>
            <a:r>
              <a:rPr lang="en-US" sz="2000" b="1">
                <a:ea typeface="Calibri"/>
                <a:cs typeface="Calibri"/>
              </a:rPr>
              <a:t>Beers</a:t>
            </a:r>
          </a:p>
          <a:p>
            <a:pPr marL="342900" indent="-342900">
              <a:buFont typeface="Arial"/>
              <a:buChar char="•"/>
            </a:pPr>
            <a:r>
              <a:rPr lang="en-US" sz="2000" b="1">
                <a:ea typeface="Calibri"/>
                <a:cs typeface="Calibri"/>
              </a:rPr>
              <a:t>Breweries</a:t>
            </a:r>
          </a:p>
          <a:p>
            <a:pPr marL="342900" indent="-342900">
              <a:buFont typeface="Arial"/>
              <a:buChar char="•"/>
            </a:pPr>
            <a:r>
              <a:rPr lang="en-US" sz="2000" b="1">
                <a:ea typeface="Calibri"/>
                <a:cs typeface="Calibri"/>
              </a:rPr>
              <a:t>Reviews </a:t>
            </a:r>
          </a:p>
          <a:p>
            <a:pPr marL="342900" indent="-342900">
              <a:buFont typeface="Arial"/>
              <a:buChar char="•"/>
            </a:pPr>
            <a:r>
              <a:rPr lang="en-US" sz="2000" b="1">
                <a:ea typeface="Calibri"/>
                <a:cs typeface="Calibri"/>
              </a:rPr>
              <a:t>Users</a:t>
            </a:r>
          </a:p>
        </p:txBody>
      </p:sp>
    </p:spTree>
    <p:extLst>
      <p:ext uri="{BB962C8B-B14F-4D97-AF65-F5344CB8AC3E}">
        <p14:creationId xmlns:p14="http://schemas.microsoft.com/office/powerpoint/2010/main" val="87756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8C7EEC7-48BB-B542-9A2A-E3C09D99B916}"/>
              </a:ext>
            </a:extLst>
          </p:cNvPr>
          <p:cNvSpPr>
            <a:spLocks noGrp="1"/>
          </p:cNvSpPr>
          <p:nvPr>
            <p:ph type="title"/>
          </p:nvPr>
        </p:nvSpPr>
        <p:spPr>
          <a:xfrm>
            <a:off x="182741" y="90093"/>
            <a:ext cx="8761797" cy="1143000"/>
          </a:xfrm>
        </p:spPr>
        <p:txBody>
          <a:bodyPr vert="horz" lIns="91440" tIns="45720" rIns="91440" bIns="45720" rtlCol="0" anchor="ctr">
            <a:normAutofit/>
          </a:bodyPr>
          <a:lstStyle/>
          <a:p>
            <a:pPr>
              <a:lnSpc>
                <a:spcPct val="90000"/>
              </a:lnSpc>
            </a:pPr>
            <a:r>
              <a:rPr lang="it-IT" sz="3700" kern="1200">
                <a:latin typeface="+mj-lt"/>
                <a:ea typeface="+mj-ea"/>
                <a:cs typeface="+mj-cs"/>
              </a:rPr>
              <a:t>Requirements and Entities </a:t>
            </a:r>
            <a:br>
              <a:rPr lang="it-IT" sz="3700" kern="1200">
                <a:latin typeface="+mj-lt"/>
                <a:ea typeface="+mj-ea"/>
                <a:cs typeface="+mj-cs"/>
              </a:rPr>
            </a:br>
            <a:r>
              <a:rPr lang="it-IT" sz="3700" kern="1200">
                <a:latin typeface="+mj-lt"/>
                <a:ea typeface="+mj-ea"/>
                <a:cs typeface="+mj-cs"/>
              </a:rPr>
              <a:t>handled by Graph DB</a:t>
            </a:r>
          </a:p>
        </p:txBody>
      </p:sp>
      <p:sp>
        <p:nvSpPr>
          <p:cNvPr id="3" name="CasellaDiTesto 2">
            <a:extLst>
              <a:ext uri="{FF2B5EF4-FFF2-40B4-BE49-F238E27FC236}">
                <a16:creationId xmlns:a16="http://schemas.microsoft.com/office/drawing/2014/main" id="{EFC5B629-449B-CCE7-ABFD-1228AD6ABB12}"/>
              </a:ext>
            </a:extLst>
          </p:cNvPr>
          <p:cNvSpPr txBox="1"/>
          <p:nvPr/>
        </p:nvSpPr>
        <p:spPr>
          <a:xfrm>
            <a:off x="457200" y="1600200"/>
            <a:ext cx="4038600" cy="4525963"/>
          </a:xfrm>
          <a:prstGeom prst="rect">
            <a:avLst/>
          </a:prstGeom>
        </p:spPr>
        <p:txBody>
          <a:bodyPr vert="horz" lIns="91440" tIns="45720" rIns="91440" bIns="45720" rtlCol="0" anchor="t">
            <a:normAutofit/>
          </a:bodyPr>
          <a:lstStyle/>
          <a:p>
            <a:pPr>
              <a:lnSpc>
                <a:spcPct val="90000"/>
              </a:lnSpc>
              <a:spcBef>
                <a:spcPct val="20000"/>
              </a:spcBef>
            </a:pPr>
            <a:r>
              <a:rPr lang="it-IT" sz="2000" b="1" err="1"/>
              <a:t>Most</a:t>
            </a:r>
            <a:r>
              <a:rPr lang="it-IT" sz="2000" b="1"/>
              <a:t> </a:t>
            </a:r>
            <a:r>
              <a:rPr lang="it-IT" sz="2000" b="1" err="1"/>
              <a:t>relevant</a:t>
            </a:r>
            <a:r>
              <a:rPr lang="it-IT" sz="2000" b="1"/>
              <a:t> </a:t>
            </a:r>
            <a:r>
              <a:rPr lang="it-IT" sz="2000" b="1" err="1"/>
              <a:t>functional</a:t>
            </a:r>
            <a:r>
              <a:rPr lang="it-IT" sz="2000" b="1"/>
              <a:t> </a:t>
            </a:r>
            <a:r>
              <a:rPr lang="it-IT" sz="2000" b="1" err="1"/>
              <a:t>requirements</a:t>
            </a:r>
            <a:r>
              <a:rPr lang="it-IT" sz="2000" b="1"/>
              <a:t>:</a:t>
            </a:r>
            <a:endParaRPr lang="it-IT" sz="2000">
              <a:ea typeface="Calibri"/>
              <a:cs typeface="Calibri"/>
            </a:endParaRPr>
          </a:p>
          <a:p>
            <a:pPr marL="342900" indent="-342900">
              <a:lnSpc>
                <a:spcPct val="90000"/>
              </a:lnSpc>
              <a:spcBef>
                <a:spcPct val="20000"/>
              </a:spcBef>
              <a:buFont typeface="Arial"/>
              <a:buChar char="•"/>
            </a:pPr>
            <a:r>
              <a:rPr lang="it-IT" sz="2000" err="1"/>
              <a:t>Find</a:t>
            </a:r>
            <a:r>
              <a:rPr lang="it-IT" sz="2000"/>
              <a:t> users with </a:t>
            </a:r>
            <a:r>
              <a:rPr lang="it-IT" sz="2000" err="1"/>
              <a:t>similar</a:t>
            </a:r>
            <a:r>
              <a:rPr lang="it-IT" sz="2000"/>
              <a:t> </a:t>
            </a:r>
            <a:r>
              <a:rPr lang="it-IT" sz="2000" err="1"/>
              <a:t>tastes</a:t>
            </a:r>
            <a:r>
              <a:rPr lang="it-IT" sz="2000"/>
              <a:t>. </a:t>
            </a:r>
            <a:endParaRPr lang="it-IT" sz="2000">
              <a:highlight>
                <a:srgbClr val="FFFF00"/>
              </a:highlight>
            </a:endParaRPr>
          </a:p>
          <a:p>
            <a:pPr marL="342900" indent="-342900">
              <a:lnSpc>
                <a:spcPct val="90000"/>
              </a:lnSpc>
              <a:spcBef>
                <a:spcPct val="20000"/>
              </a:spcBef>
              <a:buFont typeface="Arial"/>
              <a:buChar char="•"/>
            </a:pPr>
            <a:r>
              <a:rPr lang="it-IT" sz="2000" err="1"/>
              <a:t>Recommend</a:t>
            </a:r>
            <a:r>
              <a:rPr lang="it-IT" sz="2000"/>
              <a:t> </a:t>
            </a:r>
            <a:r>
              <a:rPr lang="it-IT" sz="2000" err="1"/>
              <a:t>breweries</a:t>
            </a:r>
            <a:r>
              <a:rPr lang="it-IT" sz="2000"/>
              <a:t> to follow </a:t>
            </a:r>
            <a:r>
              <a:rPr lang="it-IT" sz="2000" err="1"/>
              <a:t>based</a:t>
            </a:r>
            <a:r>
              <a:rPr lang="it-IT" sz="2000"/>
              <a:t> on </a:t>
            </a:r>
            <a:r>
              <a:rPr lang="it-IT" sz="2000" err="1"/>
              <a:t>similar</a:t>
            </a:r>
            <a:r>
              <a:rPr lang="it-IT" sz="2000"/>
              <a:t> users. </a:t>
            </a:r>
            <a:endParaRPr lang="it-IT" sz="2000">
              <a:highlight>
                <a:srgbClr val="FFFF00"/>
              </a:highlight>
            </a:endParaRPr>
          </a:p>
          <a:p>
            <a:pPr marL="342900" indent="-342900">
              <a:lnSpc>
                <a:spcPct val="90000"/>
              </a:lnSpc>
              <a:spcBef>
                <a:spcPct val="20000"/>
              </a:spcBef>
              <a:buFont typeface="Arial"/>
              <a:buChar char="•"/>
            </a:pPr>
            <a:r>
              <a:rPr lang="it-IT" sz="2000" err="1"/>
              <a:t>Suggest</a:t>
            </a:r>
            <a:r>
              <a:rPr lang="it-IT" sz="2000"/>
              <a:t> drinking </a:t>
            </a:r>
            <a:r>
              <a:rPr lang="it-IT" sz="2000" err="1"/>
              <a:t>buddies</a:t>
            </a:r>
            <a:r>
              <a:rPr lang="it-IT" sz="2000"/>
              <a:t> (</a:t>
            </a:r>
            <a:r>
              <a:rPr lang="it-IT" sz="2000" err="1"/>
              <a:t>same</a:t>
            </a:r>
            <a:r>
              <a:rPr lang="it-IT" sz="2000"/>
              <a:t> city + </a:t>
            </a:r>
            <a:r>
              <a:rPr lang="it-IT" sz="2000" err="1"/>
              <a:t>similar</a:t>
            </a:r>
            <a:r>
              <a:rPr lang="it-IT" sz="2000"/>
              <a:t> </a:t>
            </a:r>
            <a:r>
              <a:rPr lang="it-IT" sz="2000" err="1"/>
              <a:t>tastes</a:t>
            </a:r>
            <a:r>
              <a:rPr lang="it-IT" sz="2000"/>
              <a:t>).</a:t>
            </a:r>
            <a:endParaRPr lang="it-IT" sz="2000">
              <a:highlight>
                <a:srgbClr val="FFFF00"/>
              </a:highlight>
            </a:endParaRPr>
          </a:p>
          <a:p>
            <a:pPr marL="342900" indent="-342900">
              <a:lnSpc>
                <a:spcPct val="90000"/>
              </a:lnSpc>
              <a:spcBef>
                <a:spcPct val="20000"/>
              </a:spcBef>
              <a:buFont typeface="Arial"/>
              <a:buChar char="•"/>
            </a:pPr>
            <a:endParaRPr lang="it-IT" sz="2000">
              <a:highlight>
                <a:srgbClr val="FFFF00"/>
              </a:highlight>
            </a:endParaRPr>
          </a:p>
          <a:p>
            <a:pPr marL="342900" indent="-342900">
              <a:lnSpc>
                <a:spcPct val="90000"/>
              </a:lnSpc>
              <a:spcBef>
                <a:spcPct val="20000"/>
              </a:spcBef>
              <a:buFont typeface="Arial"/>
              <a:buChar char="•"/>
            </a:pPr>
            <a:endParaRPr lang="it-IT" sz="2000"/>
          </a:p>
          <a:p>
            <a:pPr>
              <a:lnSpc>
                <a:spcPct val="90000"/>
              </a:lnSpc>
              <a:spcBef>
                <a:spcPct val="20000"/>
              </a:spcBef>
            </a:pPr>
            <a:r>
              <a:rPr lang="it-IT" sz="2000" b="1" err="1"/>
              <a:t>Entities</a:t>
            </a:r>
            <a:endParaRPr lang="it-IT" sz="2000" b="1" err="1">
              <a:ea typeface="Calibri"/>
              <a:cs typeface="Calibri"/>
            </a:endParaRPr>
          </a:p>
          <a:p>
            <a:pPr marL="342900" indent="-342900">
              <a:lnSpc>
                <a:spcPct val="90000"/>
              </a:lnSpc>
              <a:spcBef>
                <a:spcPct val="20000"/>
              </a:spcBef>
              <a:buFont typeface="Arial"/>
              <a:buChar char="•"/>
            </a:pPr>
            <a:r>
              <a:rPr lang="it-IT" sz="2000" b="1"/>
              <a:t>Beer</a:t>
            </a:r>
            <a:endParaRPr lang="it-IT" sz="2000" b="1">
              <a:ea typeface="Calibri"/>
              <a:cs typeface="Calibri"/>
            </a:endParaRPr>
          </a:p>
          <a:p>
            <a:pPr marL="342900" indent="-342900">
              <a:lnSpc>
                <a:spcPct val="90000"/>
              </a:lnSpc>
              <a:spcBef>
                <a:spcPct val="20000"/>
              </a:spcBef>
              <a:buFont typeface="Arial"/>
              <a:buChar char="•"/>
            </a:pPr>
            <a:r>
              <a:rPr lang="it-IT" sz="2000" b="1" err="1"/>
              <a:t>Brewery</a:t>
            </a:r>
            <a:endParaRPr lang="it-IT" sz="2000" b="1" err="1">
              <a:ea typeface="Calibri"/>
              <a:cs typeface="Calibri"/>
            </a:endParaRPr>
          </a:p>
          <a:p>
            <a:pPr marL="342900" indent="-342900">
              <a:lnSpc>
                <a:spcPct val="90000"/>
              </a:lnSpc>
              <a:spcBef>
                <a:spcPct val="20000"/>
              </a:spcBef>
              <a:buFont typeface="Arial"/>
              <a:buChar char="•"/>
            </a:pPr>
            <a:r>
              <a:rPr lang="it-IT" sz="2000" b="1"/>
              <a:t>User</a:t>
            </a:r>
            <a:endParaRPr lang="it-IT" sz="2000" b="1">
              <a:ea typeface="Calibri"/>
              <a:cs typeface="Calibri"/>
            </a:endParaRPr>
          </a:p>
        </p:txBody>
      </p:sp>
      <p:pic>
        <p:nvPicPr>
          <p:cNvPr id="5" name="Elemento grafico 4">
            <a:extLst>
              <a:ext uri="{FF2B5EF4-FFF2-40B4-BE49-F238E27FC236}">
                <a16:creationId xmlns:a16="http://schemas.microsoft.com/office/drawing/2014/main" id="{B1E7F3D8-6017-18DE-32CF-CEF6225A0D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1319" y="2152830"/>
            <a:ext cx="4464422" cy="2546643"/>
          </a:xfrm>
          <a:prstGeom prst="rect">
            <a:avLst/>
          </a:prstGeom>
        </p:spPr>
      </p:pic>
    </p:spTree>
    <p:extLst>
      <p:ext uri="{BB962C8B-B14F-4D97-AF65-F5344CB8AC3E}">
        <p14:creationId xmlns:p14="http://schemas.microsoft.com/office/powerpoint/2010/main" val="112743059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B69086EF7D52488EA43A8A8A8360F4" ma:contentTypeVersion="12" ma:contentTypeDescription="Create a new document." ma:contentTypeScope="" ma:versionID="5da04bdbd18a28d4fc4c766b20356c6d">
  <xsd:schema xmlns:xsd="http://www.w3.org/2001/XMLSchema" xmlns:xs="http://www.w3.org/2001/XMLSchema" xmlns:p="http://schemas.microsoft.com/office/2006/metadata/properties" xmlns:ns3="962a8344-61eb-40a6-a8c2-c08ae08e811e" targetNamespace="http://schemas.microsoft.com/office/2006/metadata/properties" ma:root="true" ma:fieldsID="bf708581ce32e66f07d60efec5569451" ns3:_="">
    <xsd:import namespace="962a8344-61eb-40a6-a8c2-c08ae08e811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MediaServiceObjectDetectorVersion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2a8344-61eb-40a6-a8c2-c08ae08e8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62a8344-61eb-40a6-a8c2-c08ae08e811e" xsi:nil="true"/>
  </documentManagement>
</p:properties>
</file>

<file path=customXml/itemProps1.xml><?xml version="1.0" encoding="utf-8"?>
<ds:datastoreItem xmlns:ds="http://schemas.openxmlformats.org/officeDocument/2006/customXml" ds:itemID="{0CB7F696-8E39-4A88-B8C8-34FAEDCC9FF1}">
  <ds:schemaRefs>
    <ds:schemaRef ds:uri="962a8344-61eb-40a6-a8c2-c08ae08e81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E944F96-0BB4-4656-A999-A4993C5CAA76}">
  <ds:schemaRefs>
    <ds:schemaRef ds:uri="http://schemas.microsoft.com/sharepoint/v3/contenttype/forms"/>
  </ds:schemaRefs>
</ds:datastoreItem>
</file>

<file path=customXml/itemProps3.xml><?xml version="1.0" encoding="utf-8"?>
<ds:datastoreItem xmlns:ds="http://schemas.openxmlformats.org/officeDocument/2006/customXml" ds:itemID="{FD8CD5C7-67C1-451F-B01A-3E2ECB0CCF33}">
  <ds:schemaRefs>
    <ds:schemaRef ds:uri="962a8344-61eb-40a6-a8c2-c08ae08e8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Presentazione su schermo (4:3)</PresentationFormat>
  <Slides>8</Slides>
  <Notes>7</Notes>
  <HiddenSlides>0</HiddenSlides>
  <ScaleCrop>false</ScaleCrop>
  <HeadingPairs>
    <vt:vector size="4" baseType="variant">
      <vt:variant>
        <vt:lpstr>Tema</vt:lpstr>
      </vt:variant>
      <vt:variant>
        <vt:i4>1</vt:i4>
      </vt:variant>
      <vt:variant>
        <vt:lpstr>Titoli diapositive</vt:lpstr>
      </vt:variant>
      <vt:variant>
        <vt:i4>8</vt:i4>
      </vt:variant>
    </vt:vector>
  </HeadingPairs>
  <TitlesOfParts>
    <vt:vector size="9" baseType="lpstr">
      <vt:lpstr>Tema di Office</vt:lpstr>
      <vt:lpstr>Large-Scale and Multi-Structured Databases Project Design BeerHub</vt:lpstr>
      <vt:lpstr>Application Highlights</vt:lpstr>
      <vt:lpstr>Actors and main mock-ups (i)</vt:lpstr>
      <vt:lpstr>Actors and main mock-ups (ii)</vt:lpstr>
      <vt:lpstr>Dataset Description</vt:lpstr>
      <vt:lpstr>Preliminary UML Class Diagram</vt:lpstr>
      <vt:lpstr>Relevant Queries and Entities  handled by Document DB</vt:lpstr>
      <vt:lpstr>Requirements and Entities  handled by Graph DB</vt:lpstr>
    </vt:vector>
  </TitlesOfParts>
  <Company>Università di Pisa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Scale and Non-Structured Databases The Database Revolutions</dc:title>
  <dc:creator>Francesco  Marcelloni</dc:creator>
  <cp:revision>5</cp:revision>
  <dcterms:created xsi:type="dcterms:W3CDTF">2019-07-02T09:26:30Z</dcterms:created>
  <dcterms:modified xsi:type="dcterms:W3CDTF">2025-12-15T08:48:24Z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0x0101002DB69086EF7D52488EA43A8A8A8360F4</vt:lpwstr>
  </property>
</Properties>
</file>